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4" r:id="rId8"/>
    <p:sldId id="263" r:id="rId9"/>
    <p:sldId id="265" r:id="rId10"/>
    <p:sldId id="277" r:id="rId11"/>
    <p:sldId id="266" r:id="rId12"/>
    <p:sldId id="267" r:id="rId13"/>
    <p:sldId id="268" r:id="rId14"/>
    <p:sldId id="269" r:id="rId15"/>
    <p:sldId id="270" r:id="rId16"/>
    <p:sldId id="271" r:id="rId17"/>
    <p:sldId id="272" r:id="rId18"/>
    <p:sldId id="273" r:id="rId19"/>
    <p:sldId id="274" r:id="rId20"/>
    <p:sldId id="276" r:id="rId21"/>
    <p:sldId id="275" r:id="rId22"/>
    <p:sldId id="278" r:id="rId23"/>
    <p:sldId id="279" r:id="rId24"/>
    <p:sldId id="280" r:id="rId25"/>
    <p:sldId id="282" r:id="rId26"/>
    <p:sldId id="28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336" autoAdjust="0"/>
    <p:restoredTop sz="94660"/>
  </p:normalViewPr>
  <p:slideViewPr>
    <p:cSldViewPr snapToGrid="0">
      <p:cViewPr varScale="1">
        <p:scale>
          <a:sx n="86" d="100"/>
          <a:sy n="86" d="100"/>
        </p:scale>
        <p:origin x="162" y="15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3D7C7-0607-8CFE-0869-13003288515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792C98F-7EC6-AFA5-A829-3594897725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CE4BBD1-E8B6-EC4D-3D6F-D03624514995}"/>
              </a:ext>
            </a:extLst>
          </p:cNvPr>
          <p:cNvSpPr>
            <a:spLocks noGrp="1"/>
          </p:cNvSpPr>
          <p:nvPr>
            <p:ph type="dt" sz="half" idx="10"/>
          </p:nvPr>
        </p:nvSpPr>
        <p:spPr/>
        <p:txBody>
          <a:bodyPr/>
          <a:lstStyle/>
          <a:p>
            <a:fld id="{AFA53B16-290D-4C7B-B520-7082D074CA9C}" type="datetimeFigureOut">
              <a:rPr lang="en-IN" smtClean="0"/>
              <a:t>24-11-2025</a:t>
            </a:fld>
            <a:endParaRPr lang="en-IN"/>
          </a:p>
        </p:txBody>
      </p:sp>
      <p:sp>
        <p:nvSpPr>
          <p:cNvPr id="5" name="Footer Placeholder 4">
            <a:extLst>
              <a:ext uri="{FF2B5EF4-FFF2-40B4-BE49-F238E27FC236}">
                <a16:creationId xmlns:a16="http://schemas.microsoft.com/office/drawing/2014/main" id="{FB174ABA-30FB-ADA8-90F5-BA142A4F0E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BF1FA7-731F-9CFB-AF88-2F381267638D}"/>
              </a:ext>
            </a:extLst>
          </p:cNvPr>
          <p:cNvSpPr>
            <a:spLocks noGrp="1"/>
          </p:cNvSpPr>
          <p:nvPr>
            <p:ph type="sldNum" sz="quarter" idx="12"/>
          </p:nvPr>
        </p:nvSpPr>
        <p:spPr/>
        <p:txBody>
          <a:bodyPr/>
          <a:lstStyle/>
          <a:p>
            <a:fld id="{F3644AC4-20B3-441D-9D7F-97A0FBE4873C}" type="slidenum">
              <a:rPr lang="en-IN" smtClean="0"/>
              <a:t>‹#›</a:t>
            </a:fld>
            <a:endParaRPr lang="en-IN"/>
          </a:p>
        </p:txBody>
      </p:sp>
    </p:spTree>
    <p:extLst>
      <p:ext uri="{BB962C8B-B14F-4D97-AF65-F5344CB8AC3E}">
        <p14:creationId xmlns:p14="http://schemas.microsoft.com/office/powerpoint/2010/main" val="1659711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B2970-DA3F-0A64-C8FA-847D989AD4B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30FAA04-CF56-09A1-B7B5-B74FB97F2CD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DD3E0D7-1FC4-C83D-A608-05A7B88568B7}"/>
              </a:ext>
            </a:extLst>
          </p:cNvPr>
          <p:cNvSpPr>
            <a:spLocks noGrp="1"/>
          </p:cNvSpPr>
          <p:nvPr>
            <p:ph type="dt" sz="half" idx="10"/>
          </p:nvPr>
        </p:nvSpPr>
        <p:spPr/>
        <p:txBody>
          <a:bodyPr/>
          <a:lstStyle/>
          <a:p>
            <a:fld id="{AFA53B16-290D-4C7B-B520-7082D074CA9C}" type="datetimeFigureOut">
              <a:rPr lang="en-IN" smtClean="0"/>
              <a:t>24-11-2025</a:t>
            </a:fld>
            <a:endParaRPr lang="en-IN"/>
          </a:p>
        </p:txBody>
      </p:sp>
      <p:sp>
        <p:nvSpPr>
          <p:cNvPr id="5" name="Footer Placeholder 4">
            <a:extLst>
              <a:ext uri="{FF2B5EF4-FFF2-40B4-BE49-F238E27FC236}">
                <a16:creationId xmlns:a16="http://schemas.microsoft.com/office/drawing/2014/main" id="{20CC9980-BC04-D455-71E3-9E9C74872E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CF5883-48C9-3891-C8FE-9627A00F303C}"/>
              </a:ext>
            </a:extLst>
          </p:cNvPr>
          <p:cNvSpPr>
            <a:spLocks noGrp="1"/>
          </p:cNvSpPr>
          <p:nvPr>
            <p:ph type="sldNum" sz="quarter" idx="12"/>
          </p:nvPr>
        </p:nvSpPr>
        <p:spPr/>
        <p:txBody>
          <a:bodyPr/>
          <a:lstStyle/>
          <a:p>
            <a:fld id="{F3644AC4-20B3-441D-9D7F-97A0FBE4873C}" type="slidenum">
              <a:rPr lang="en-IN" smtClean="0"/>
              <a:t>‹#›</a:t>
            </a:fld>
            <a:endParaRPr lang="en-IN"/>
          </a:p>
        </p:txBody>
      </p:sp>
    </p:spTree>
    <p:extLst>
      <p:ext uri="{BB962C8B-B14F-4D97-AF65-F5344CB8AC3E}">
        <p14:creationId xmlns:p14="http://schemas.microsoft.com/office/powerpoint/2010/main" val="1767227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C9BE9-7968-6155-68A6-D7593D397B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D17B3F6-FD27-604E-6E9F-69C9B7ED832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11E9B4-787D-34E3-6990-B63EC69AC1BE}"/>
              </a:ext>
            </a:extLst>
          </p:cNvPr>
          <p:cNvSpPr>
            <a:spLocks noGrp="1"/>
          </p:cNvSpPr>
          <p:nvPr>
            <p:ph type="dt" sz="half" idx="10"/>
          </p:nvPr>
        </p:nvSpPr>
        <p:spPr/>
        <p:txBody>
          <a:bodyPr/>
          <a:lstStyle/>
          <a:p>
            <a:fld id="{AFA53B16-290D-4C7B-B520-7082D074CA9C}" type="datetimeFigureOut">
              <a:rPr lang="en-IN" smtClean="0"/>
              <a:t>24-11-2025</a:t>
            </a:fld>
            <a:endParaRPr lang="en-IN"/>
          </a:p>
        </p:txBody>
      </p:sp>
      <p:sp>
        <p:nvSpPr>
          <p:cNvPr id="5" name="Footer Placeholder 4">
            <a:extLst>
              <a:ext uri="{FF2B5EF4-FFF2-40B4-BE49-F238E27FC236}">
                <a16:creationId xmlns:a16="http://schemas.microsoft.com/office/drawing/2014/main" id="{8BA36B5A-AD35-E8CB-9EF3-3E0BD03A94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F17CCF-9F7C-37DB-8997-CCA8C2E929CC}"/>
              </a:ext>
            </a:extLst>
          </p:cNvPr>
          <p:cNvSpPr>
            <a:spLocks noGrp="1"/>
          </p:cNvSpPr>
          <p:nvPr>
            <p:ph type="sldNum" sz="quarter" idx="12"/>
          </p:nvPr>
        </p:nvSpPr>
        <p:spPr/>
        <p:txBody>
          <a:bodyPr/>
          <a:lstStyle/>
          <a:p>
            <a:fld id="{F3644AC4-20B3-441D-9D7F-97A0FBE4873C}" type="slidenum">
              <a:rPr lang="en-IN" smtClean="0"/>
              <a:t>‹#›</a:t>
            </a:fld>
            <a:endParaRPr lang="en-IN"/>
          </a:p>
        </p:txBody>
      </p:sp>
    </p:spTree>
    <p:extLst>
      <p:ext uri="{BB962C8B-B14F-4D97-AF65-F5344CB8AC3E}">
        <p14:creationId xmlns:p14="http://schemas.microsoft.com/office/powerpoint/2010/main" val="3138591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B3418-4398-3A76-F298-23C9691F67A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33F3862-DEF5-9473-2451-5362893C46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C45B0AF-C60E-70AB-00F9-D14A0F1A25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52F9445-3E3F-63DE-B4F5-B3C4D09B79CD}"/>
              </a:ext>
            </a:extLst>
          </p:cNvPr>
          <p:cNvSpPr>
            <a:spLocks noGrp="1"/>
          </p:cNvSpPr>
          <p:nvPr>
            <p:ph type="dt" sz="half" idx="10"/>
          </p:nvPr>
        </p:nvSpPr>
        <p:spPr/>
        <p:txBody>
          <a:bodyPr/>
          <a:lstStyle/>
          <a:p>
            <a:fld id="{AFA53B16-290D-4C7B-B520-7082D074CA9C}" type="datetimeFigureOut">
              <a:rPr lang="en-IN" smtClean="0"/>
              <a:t>24-11-2025</a:t>
            </a:fld>
            <a:endParaRPr lang="en-IN"/>
          </a:p>
        </p:txBody>
      </p:sp>
      <p:sp>
        <p:nvSpPr>
          <p:cNvPr id="6" name="Footer Placeholder 5">
            <a:extLst>
              <a:ext uri="{FF2B5EF4-FFF2-40B4-BE49-F238E27FC236}">
                <a16:creationId xmlns:a16="http://schemas.microsoft.com/office/drawing/2014/main" id="{C80BE969-FEF6-A719-88C3-3BC460ECEFF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51B7545-96C1-9E44-D31F-59ABAFABB059}"/>
              </a:ext>
            </a:extLst>
          </p:cNvPr>
          <p:cNvSpPr>
            <a:spLocks noGrp="1"/>
          </p:cNvSpPr>
          <p:nvPr>
            <p:ph type="sldNum" sz="quarter" idx="12"/>
          </p:nvPr>
        </p:nvSpPr>
        <p:spPr/>
        <p:txBody>
          <a:bodyPr/>
          <a:lstStyle/>
          <a:p>
            <a:fld id="{F3644AC4-20B3-441D-9D7F-97A0FBE4873C}" type="slidenum">
              <a:rPr lang="en-IN" smtClean="0"/>
              <a:t>‹#›</a:t>
            </a:fld>
            <a:endParaRPr lang="en-IN"/>
          </a:p>
        </p:txBody>
      </p:sp>
    </p:spTree>
    <p:extLst>
      <p:ext uri="{BB962C8B-B14F-4D97-AF65-F5344CB8AC3E}">
        <p14:creationId xmlns:p14="http://schemas.microsoft.com/office/powerpoint/2010/main" val="364208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75C5B-63A9-7EF7-DD93-19DD78C4281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173F385-D3A3-0BD5-FDBF-0C16F0D0FC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A0D75A4-60E6-081E-B055-93342238140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33AE84E-D3A6-9D04-5F15-916DD4A593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5AD203-C09C-E207-F48E-33C60EBFA5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468CDCF-723B-249B-0B02-996A2C94CA88}"/>
              </a:ext>
            </a:extLst>
          </p:cNvPr>
          <p:cNvSpPr>
            <a:spLocks noGrp="1"/>
          </p:cNvSpPr>
          <p:nvPr>
            <p:ph type="dt" sz="half" idx="10"/>
          </p:nvPr>
        </p:nvSpPr>
        <p:spPr/>
        <p:txBody>
          <a:bodyPr/>
          <a:lstStyle/>
          <a:p>
            <a:fld id="{AFA53B16-290D-4C7B-B520-7082D074CA9C}" type="datetimeFigureOut">
              <a:rPr lang="en-IN" smtClean="0"/>
              <a:t>24-11-2025</a:t>
            </a:fld>
            <a:endParaRPr lang="en-IN"/>
          </a:p>
        </p:txBody>
      </p:sp>
      <p:sp>
        <p:nvSpPr>
          <p:cNvPr id="8" name="Footer Placeholder 7">
            <a:extLst>
              <a:ext uri="{FF2B5EF4-FFF2-40B4-BE49-F238E27FC236}">
                <a16:creationId xmlns:a16="http://schemas.microsoft.com/office/drawing/2014/main" id="{7646E3F1-B35F-9C01-3C98-64F7FF56598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6685A4F-C0E5-DDFE-AF8A-54A302BB9A03}"/>
              </a:ext>
            </a:extLst>
          </p:cNvPr>
          <p:cNvSpPr>
            <a:spLocks noGrp="1"/>
          </p:cNvSpPr>
          <p:nvPr>
            <p:ph type="sldNum" sz="quarter" idx="12"/>
          </p:nvPr>
        </p:nvSpPr>
        <p:spPr/>
        <p:txBody>
          <a:bodyPr/>
          <a:lstStyle/>
          <a:p>
            <a:fld id="{F3644AC4-20B3-441D-9D7F-97A0FBE4873C}" type="slidenum">
              <a:rPr lang="en-IN" smtClean="0"/>
              <a:t>‹#›</a:t>
            </a:fld>
            <a:endParaRPr lang="en-IN"/>
          </a:p>
        </p:txBody>
      </p:sp>
    </p:spTree>
    <p:extLst>
      <p:ext uri="{BB962C8B-B14F-4D97-AF65-F5344CB8AC3E}">
        <p14:creationId xmlns:p14="http://schemas.microsoft.com/office/powerpoint/2010/main" val="2242948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6C778-C0AC-A0D1-5042-B2B7E6F84FA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DE24951-B513-DF7B-5017-6099818A6261}"/>
              </a:ext>
            </a:extLst>
          </p:cNvPr>
          <p:cNvSpPr>
            <a:spLocks noGrp="1"/>
          </p:cNvSpPr>
          <p:nvPr>
            <p:ph type="dt" sz="half" idx="10"/>
          </p:nvPr>
        </p:nvSpPr>
        <p:spPr/>
        <p:txBody>
          <a:bodyPr/>
          <a:lstStyle/>
          <a:p>
            <a:fld id="{AFA53B16-290D-4C7B-B520-7082D074CA9C}" type="datetimeFigureOut">
              <a:rPr lang="en-IN" smtClean="0"/>
              <a:t>24-11-2025</a:t>
            </a:fld>
            <a:endParaRPr lang="en-IN"/>
          </a:p>
        </p:txBody>
      </p:sp>
      <p:sp>
        <p:nvSpPr>
          <p:cNvPr id="4" name="Footer Placeholder 3">
            <a:extLst>
              <a:ext uri="{FF2B5EF4-FFF2-40B4-BE49-F238E27FC236}">
                <a16:creationId xmlns:a16="http://schemas.microsoft.com/office/drawing/2014/main" id="{A5FBB5E9-3763-AFA7-A8BF-743813DDA9B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55A2635-8BD0-070F-6760-1371D636484A}"/>
              </a:ext>
            </a:extLst>
          </p:cNvPr>
          <p:cNvSpPr>
            <a:spLocks noGrp="1"/>
          </p:cNvSpPr>
          <p:nvPr>
            <p:ph type="sldNum" sz="quarter" idx="12"/>
          </p:nvPr>
        </p:nvSpPr>
        <p:spPr/>
        <p:txBody>
          <a:bodyPr/>
          <a:lstStyle/>
          <a:p>
            <a:fld id="{F3644AC4-20B3-441D-9D7F-97A0FBE4873C}" type="slidenum">
              <a:rPr lang="en-IN" smtClean="0"/>
              <a:t>‹#›</a:t>
            </a:fld>
            <a:endParaRPr lang="en-IN"/>
          </a:p>
        </p:txBody>
      </p:sp>
    </p:spTree>
    <p:extLst>
      <p:ext uri="{BB962C8B-B14F-4D97-AF65-F5344CB8AC3E}">
        <p14:creationId xmlns:p14="http://schemas.microsoft.com/office/powerpoint/2010/main" val="6871629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ADA1AA-FBA2-2BD4-8595-8316BB4DD0D5}"/>
              </a:ext>
            </a:extLst>
          </p:cNvPr>
          <p:cNvSpPr>
            <a:spLocks noGrp="1"/>
          </p:cNvSpPr>
          <p:nvPr>
            <p:ph type="dt" sz="half" idx="10"/>
          </p:nvPr>
        </p:nvSpPr>
        <p:spPr/>
        <p:txBody>
          <a:bodyPr/>
          <a:lstStyle/>
          <a:p>
            <a:fld id="{AFA53B16-290D-4C7B-B520-7082D074CA9C}" type="datetimeFigureOut">
              <a:rPr lang="en-IN" smtClean="0"/>
              <a:t>24-11-2025</a:t>
            </a:fld>
            <a:endParaRPr lang="en-IN"/>
          </a:p>
        </p:txBody>
      </p:sp>
      <p:sp>
        <p:nvSpPr>
          <p:cNvPr id="3" name="Footer Placeholder 2">
            <a:extLst>
              <a:ext uri="{FF2B5EF4-FFF2-40B4-BE49-F238E27FC236}">
                <a16:creationId xmlns:a16="http://schemas.microsoft.com/office/drawing/2014/main" id="{100E19A0-B224-C8A3-ABC6-2FCC36C2CEA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7755E83-ED99-1DD5-CAC8-D5E0155C2170}"/>
              </a:ext>
            </a:extLst>
          </p:cNvPr>
          <p:cNvSpPr>
            <a:spLocks noGrp="1"/>
          </p:cNvSpPr>
          <p:nvPr>
            <p:ph type="sldNum" sz="quarter" idx="12"/>
          </p:nvPr>
        </p:nvSpPr>
        <p:spPr/>
        <p:txBody>
          <a:bodyPr/>
          <a:lstStyle/>
          <a:p>
            <a:fld id="{F3644AC4-20B3-441D-9D7F-97A0FBE4873C}" type="slidenum">
              <a:rPr lang="en-IN" smtClean="0"/>
              <a:t>‹#›</a:t>
            </a:fld>
            <a:endParaRPr lang="en-IN"/>
          </a:p>
        </p:txBody>
      </p:sp>
    </p:spTree>
    <p:extLst>
      <p:ext uri="{BB962C8B-B14F-4D97-AF65-F5344CB8AC3E}">
        <p14:creationId xmlns:p14="http://schemas.microsoft.com/office/powerpoint/2010/main" val="41218100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9085A-F47C-E3CE-3866-727AD9A3AD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049663B-2930-2541-1ED4-BA03B94453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D297978-E86B-1893-A665-B7C9CE711B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FA5E9E-2BDB-55E3-4FCD-A78C4A8F0D8C}"/>
              </a:ext>
            </a:extLst>
          </p:cNvPr>
          <p:cNvSpPr>
            <a:spLocks noGrp="1"/>
          </p:cNvSpPr>
          <p:nvPr>
            <p:ph type="dt" sz="half" idx="10"/>
          </p:nvPr>
        </p:nvSpPr>
        <p:spPr/>
        <p:txBody>
          <a:bodyPr/>
          <a:lstStyle/>
          <a:p>
            <a:fld id="{AFA53B16-290D-4C7B-B520-7082D074CA9C}" type="datetimeFigureOut">
              <a:rPr lang="en-IN" smtClean="0"/>
              <a:t>24-11-2025</a:t>
            </a:fld>
            <a:endParaRPr lang="en-IN"/>
          </a:p>
        </p:txBody>
      </p:sp>
      <p:sp>
        <p:nvSpPr>
          <p:cNvPr id="6" name="Footer Placeholder 5">
            <a:extLst>
              <a:ext uri="{FF2B5EF4-FFF2-40B4-BE49-F238E27FC236}">
                <a16:creationId xmlns:a16="http://schemas.microsoft.com/office/drawing/2014/main" id="{59CAFFEB-6136-20AD-3ABA-3CB4839A733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A147368-B4DE-E069-E70A-DCDF870F91C3}"/>
              </a:ext>
            </a:extLst>
          </p:cNvPr>
          <p:cNvSpPr>
            <a:spLocks noGrp="1"/>
          </p:cNvSpPr>
          <p:nvPr>
            <p:ph type="sldNum" sz="quarter" idx="12"/>
          </p:nvPr>
        </p:nvSpPr>
        <p:spPr/>
        <p:txBody>
          <a:bodyPr/>
          <a:lstStyle/>
          <a:p>
            <a:fld id="{F3644AC4-20B3-441D-9D7F-97A0FBE4873C}" type="slidenum">
              <a:rPr lang="en-IN" smtClean="0"/>
              <a:t>‹#›</a:t>
            </a:fld>
            <a:endParaRPr lang="en-IN"/>
          </a:p>
        </p:txBody>
      </p:sp>
    </p:spTree>
    <p:extLst>
      <p:ext uri="{BB962C8B-B14F-4D97-AF65-F5344CB8AC3E}">
        <p14:creationId xmlns:p14="http://schemas.microsoft.com/office/powerpoint/2010/main" val="23368609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191E0-1D86-03A6-B09A-16212F7BDA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7B7CE1B-7372-573F-4825-112486C63A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127B408-84C1-4B3B-6C18-C75AB62055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CEF491-DADC-3ED7-7C6A-FC58ED205E11}"/>
              </a:ext>
            </a:extLst>
          </p:cNvPr>
          <p:cNvSpPr>
            <a:spLocks noGrp="1"/>
          </p:cNvSpPr>
          <p:nvPr>
            <p:ph type="dt" sz="half" idx="10"/>
          </p:nvPr>
        </p:nvSpPr>
        <p:spPr/>
        <p:txBody>
          <a:bodyPr/>
          <a:lstStyle/>
          <a:p>
            <a:fld id="{AFA53B16-290D-4C7B-B520-7082D074CA9C}" type="datetimeFigureOut">
              <a:rPr lang="en-IN" smtClean="0"/>
              <a:t>24-11-2025</a:t>
            </a:fld>
            <a:endParaRPr lang="en-IN"/>
          </a:p>
        </p:txBody>
      </p:sp>
      <p:sp>
        <p:nvSpPr>
          <p:cNvPr id="6" name="Footer Placeholder 5">
            <a:extLst>
              <a:ext uri="{FF2B5EF4-FFF2-40B4-BE49-F238E27FC236}">
                <a16:creationId xmlns:a16="http://schemas.microsoft.com/office/drawing/2014/main" id="{DAB15962-2C8C-6DB1-10EC-8FB270D17A8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D84986-E9A2-C766-172E-FADABD24A583}"/>
              </a:ext>
            </a:extLst>
          </p:cNvPr>
          <p:cNvSpPr>
            <a:spLocks noGrp="1"/>
          </p:cNvSpPr>
          <p:nvPr>
            <p:ph type="sldNum" sz="quarter" idx="12"/>
          </p:nvPr>
        </p:nvSpPr>
        <p:spPr/>
        <p:txBody>
          <a:bodyPr/>
          <a:lstStyle/>
          <a:p>
            <a:fld id="{F3644AC4-20B3-441D-9D7F-97A0FBE4873C}" type="slidenum">
              <a:rPr lang="en-IN" smtClean="0"/>
              <a:t>‹#›</a:t>
            </a:fld>
            <a:endParaRPr lang="en-IN"/>
          </a:p>
        </p:txBody>
      </p:sp>
    </p:spTree>
    <p:extLst>
      <p:ext uri="{BB962C8B-B14F-4D97-AF65-F5344CB8AC3E}">
        <p14:creationId xmlns:p14="http://schemas.microsoft.com/office/powerpoint/2010/main" val="1083875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7D50C-A74A-4B31-E511-F747A78663A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F23529D-0359-0835-6C1A-A865EE88924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703C0D-3EC3-9172-414D-4CCBD4C25F4B}"/>
              </a:ext>
            </a:extLst>
          </p:cNvPr>
          <p:cNvSpPr>
            <a:spLocks noGrp="1"/>
          </p:cNvSpPr>
          <p:nvPr>
            <p:ph type="dt" sz="half" idx="10"/>
          </p:nvPr>
        </p:nvSpPr>
        <p:spPr/>
        <p:txBody>
          <a:bodyPr/>
          <a:lstStyle/>
          <a:p>
            <a:fld id="{AFA53B16-290D-4C7B-B520-7082D074CA9C}" type="datetimeFigureOut">
              <a:rPr lang="en-IN" smtClean="0"/>
              <a:t>24-11-2025</a:t>
            </a:fld>
            <a:endParaRPr lang="en-IN"/>
          </a:p>
        </p:txBody>
      </p:sp>
      <p:sp>
        <p:nvSpPr>
          <p:cNvPr id="5" name="Footer Placeholder 4">
            <a:extLst>
              <a:ext uri="{FF2B5EF4-FFF2-40B4-BE49-F238E27FC236}">
                <a16:creationId xmlns:a16="http://schemas.microsoft.com/office/drawing/2014/main" id="{D83FE70E-0CAB-D21E-065B-040AED463D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111704-8085-3B48-4062-CED493304AFC}"/>
              </a:ext>
            </a:extLst>
          </p:cNvPr>
          <p:cNvSpPr>
            <a:spLocks noGrp="1"/>
          </p:cNvSpPr>
          <p:nvPr>
            <p:ph type="sldNum" sz="quarter" idx="12"/>
          </p:nvPr>
        </p:nvSpPr>
        <p:spPr/>
        <p:txBody>
          <a:bodyPr/>
          <a:lstStyle/>
          <a:p>
            <a:fld id="{F3644AC4-20B3-441D-9D7F-97A0FBE4873C}" type="slidenum">
              <a:rPr lang="en-IN" smtClean="0"/>
              <a:t>‹#›</a:t>
            </a:fld>
            <a:endParaRPr lang="en-IN"/>
          </a:p>
        </p:txBody>
      </p:sp>
    </p:spTree>
    <p:extLst>
      <p:ext uri="{BB962C8B-B14F-4D97-AF65-F5344CB8AC3E}">
        <p14:creationId xmlns:p14="http://schemas.microsoft.com/office/powerpoint/2010/main" val="1010259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8B6E4C-B477-4E07-CB61-C5CEF5669D5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742C7A5-8AD9-66FB-1395-B7AED19744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7EDF4B-17A3-0503-4D1C-142BD5C72801}"/>
              </a:ext>
            </a:extLst>
          </p:cNvPr>
          <p:cNvSpPr>
            <a:spLocks noGrp="1"/>
          </p:cNvSpPr>
          <p:nvPr>
            <p:ph type="dt" sz="half" idx="10"/>
          </p:nvPr>
        </p:nvSpPr>
        <p:spPr/>
        <p:txBody>
          <a:bodyPr/>
          <a:lstStyle/>
          <a:p>
            <a:fld id="{AFA53B16-290D-4C7B-B520-7082D074CA9C}" type="datetimeFigureOut">
              <a:rPr lang="en-IN" smtClean="0"/>
              <a:t>24-11-2025</a:t>
            </a:fld>
            <a:endParaRPr lang="en-IN"/>
          </a:p>
        </p:txBody>
      </p:sp>
      <p:sp>
        <p:nvSpPr>
          <p:cNvPr id="5" name="Footer Placeholder 4">
            <a:extLst>
              <a:ext uri="{FF2B5EF4-FFF2-40B4-BE49-F238E27FC236}">
                <a16:creationId xmlns:a16="http://schemas.microsoft.com/office/drawing/2014/main" id="{7B2E50A8-B5EE-A27C-5442-C9A82F4B73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2F2EAA-A657-CE8E-7BA2-D436C9937DE5}"/>
              </a:ext>
            </a:extLst>
          </p:cNvPr>
          <p:cNvSpPr>
            <a:spLocks noGrp="1"/>
          </p:cNvSpPr>
          <p:nvPr>
            <p:ph type="sldNum" sz="quarter" idx="12"/>
          </p:nvPr>
        </p:nvSpPr>
        <p:spPr/>
        <p:txBody>
          <a:bodyPr/>
          <a:lstStyle/>
          <a:p>
            <a:fld id="{F3644AC4-20B3-441D-9D7F-97A0FBE4873C}" type="slidenum">
              <a:rPr lang="en-IN" smtClean="0"/>
              <a:t>‹#›</a:t>
            </a:fld>
            <a:endParaRPr lang="en-IN"/>
          </a:p>
        </p:txBody>
      </p:sp>
    </p:spTree>
    <p:extLst>
      <p:ext uri="{BB962C8B-B14F-4D97-AF65-F5344CB8AC3E}">
        <p14:creationId xmlns:p14="http://schemas.microsoft.com/office/powerpoint/2010/main" val="2971217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E5D3BD-35E2-8EA4-7E72-08F5675365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F0A947D-CC1C-54A6-D4A8-AE909766FB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60378B-B9F4-A052-62D1-8B1421E282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A53B16-290D-4C7B-B520-7082D074CA9C}" type="datetimeFigureOut">
              <a:rPr lang="en-IN" smtClean="0"/>
              <a:t>24-11-2025</a:t>
            </a:fld>
            <a:endParaRPr lang="en-IN"/>
          </a:p>
        </p:txBody>
      </p:sp>
      <p:sp>
        <p:nvSpPr>
          <p:cNvPr id="5" name="Footer Placeholder 4">
            <a:extLst>
              <a:ext uri="{FF2B5EF4-FFF2-40B4-BE49-F238E27FC236}">
                <a16:creationId xmlns:a16="http://schemas.microsoft.com/office/drawing/2014/main" id="{4B5DDAA3-465C-F269-0AFA-089C80646A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B526540-784A-63BE-F374-7B072DFBE7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644AC4-20B3-441D-9D7F-97A0FBE4873C}" type="slidenum">
              <a:rPr lang="en-IN" smtClean="0"/>
              <a:t>‹#›</a:t>
            </a:fld>
            <a:endParaRPr lang="en-IN"/>
          </a:p>
        </p:txBody>
      </p:sp>
    </p:spTree>
    <p:extLst>
      <p:ext uri="{BB962C8B-B14F-4D97-AF65-F5344CB8AC3E}">
        <p14:creationId xmlns:p14="http://schemas.microsoft.com/office/powerpoint/2010/main" val="17269944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2D183-5E57-87B5-38F6-108A694771E9}"/>
              </a:ext>
            </a:extLst>
          </p:cNvPr>
          <p:cNvSpPr>
            <a:spLocks noGrp="1"/>
          </p:cNvSpPr>
          <p:nvPr>
            <p:ph type="ctrTitle"/>
          </p:nvPr>
        </p:nvSpPr>
        <p:spPr>
          <a:xfrm>
            <a:off x="1524000" y="1041400"/>
            <a:ext cx="9144000" cy="2387600"/>
          </a:xfrm>
        </p:spPr>
        <p:txBody>
          <a:bodyPr>
            <a:normAutofit/>
          </a:bodyPr>
          <a:lstStyle/>
          <a:p>
            <a:r>
              <a:rPr lang="en-IN" sz="4800" b="1" dirty="0">
                <a:latin typeface="Times New Roman" panose="02020603050405020304" pitchFamily="18" charset="0"/>
                <a:cs typeface="Times New Roman" panose="02020603050405020304" pitchFamily="18" charset="0"/>
              </a:rPr>
              <a:t>Predicting House Price </a:t>
            </a:r>
            <a:br>
              <a:rPr lang="en-IN" sz="4800" b="1" dirty="0">
                <a:latin typeface="Times New Roman" panose="02020603050405020304" pitchFamily="18" charset="0"/>
                <a:cs typeface="Times New Roman" panose="02020603050405020304" pitchFamily="18" charset="0"/>
              </a:rPr>
            </a:br>
            <a:r>
              <a:rPr lang="en-IN" sz="4800" b="1" dirty="0">
                <a:latin typeface="Times New Roman" panose="02020603050405020304" pitchFamily="18" charset="0"/>
                <a:cs typeface="Times New Roman" panose="02020603050405020304" pitchFamily="18" charset="0"/>
              </a:rPr>
              <a:t>using </a:t>
            </a:r>
            <a:br>
              <a:rPr lang="en-IN" sz="4800" b="1" dirty="0">
                <a:latin typeface="Times New Roman" panose="02020603050405020304" pitchFamily="18" charset="0"/>
                <a:cs typeface="Times New Roman" panose="02020603050405020304" pitchFamily="18" charset="0"/>
              </a:rPr>
            </a:br>
            <a:r>
              <a:rPr lang="en-IN" sz="4800" b="1" dirty="0">
                <a:latin typeface="Times New Roman" panose="02020603050405020304" pitchFamily="18" charset="0"/>
                <a:cs typeface="Times New Roman" panose="02020603050405020304" pitchFamily="18" charset="0"/>
              </a:rPr>
              <a:t>ML Models </a:t>
            </a:r>
          </a:p>
        </p:txBody>
      </p:sp>
      <p:sp>
        <p:nvSpPr>
          <p:cNvPr id="3" name="Subtitle 2">
            <a:extLst>
              <a:ext uri="{FF2B5EF4-FFF2-40B4-BE49-F238E27FC236}">
                <a16:creationId xmlns:a16="http://schemas.microsoft.com/office/drawing/2014/main" id="{005814DC-F2D3-48ED-4F50-0DAEF019E59D}"/>
              </a:ext>
            </a:extLst>
          </p:cNvPr>
          <p:cNvSpPr>
            <a:spLocks noGrp="1"/>
          </p:cNvSpPr>
          <p:nvPr>
            <p:ph type="subTitle" idx="1"/>
          </p:nvPr>
        </p:nvSpPr>
        <p:spPr>
          <a:xfrm>
            <a:off x="1524000" y="4017675"/>
            <a:ext cx="9144000" cy="1655762"/>
          </a:xfrm>
        </p:spPr>
        <p:txBody>
          <a:bodyPr/>
          <a:lstStyle/>
          <a:p>
            <a:r>
              <a:rPr lang="en-IN" dirty="0">
                <a:latin typeface="Times New Roman" panose="02020603050405020304" pitchFamily="18" charset="0"/>
                <a:cs typeface="Times New Roman" panose="02020603050405020304" pitchFamily="18" charset="0"/>
              </a:rPr>
              <a:t>Suniksha Gupta </a:t>
            </a:r>
          </a:p>
          <a:p>
            <a:r>
              <a:rPr lang="en-IN" dirty="0">
                <a:latin typeface="Times New Roman" panose="02020603050405020304" pitchFamily="18" charset="0"/>
                <a:cs typeface="Times New Roman" panose="02020603050405020304" pitchFamily="18" charset="0"/>
              </a:rPr>
              <a:t>Data Science Capstone Project </a:t>
            </a:r>
          </a:p>
        </p:txBody>
      </p:sp>
    </p:spTree>
    <p:extLst>
      <p:ext uri="{BB962C8B-B14F-4D97-AF65-F5344CB8AC3E}">
        <p14:creationId xmlns:p14="http://schemas.microsoft.com/office/powerpoint/2010/main" val="26040814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33B5E-93F3-620D-E4CB-EB1929ACF382}"/>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Abstract</a:t>
            </a:r>
            <a:r>
              <a:rPr lang="en-IN"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CC4CFCA0-57C2-48F5-2D99-65BAAC52267E}"/>
              </a:ext>
            </a:extLst>
          </p:cNvPr>
          <p:cNvSpPr>
            <a:spLocks noGrp="1"/>
          </p:cNvSpPr>
          <p:nvPr>
            <p:ph idx="1"/>
          </p:nvPr>
        </p:nvSpPr>
        <p:spPr/>
        <p:txBody>
          <a:bodyPr/>
          <a:lstStyle/>
          <a:p>
            <a:r>
              <a:rPr lang="en-US" sz="2000" dirty="0">
                <a:latin typeface="Times New Roman" panose="02020603050405020304" pitchFamily="18" charset="0"/>
                <a:cs typeface="Times New Roman" panose="02020603050405020304" pitchFamily="18" charset="0"/>
              </a:rPr>
              <a:t>Built a predictive model for house prices using a real-estate dataset containing key property, location, and structural features.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Performed comprehensive data cleaning, feature engineering, and exploratory data analysis to understand price-driving factors.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Evaluated multiple regression algorithms and selected the best-performing model based on accuracy, error metrics, and generalization capability.</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Final model delivers reliable price predictions and provides insights into the most influential features affecting housing market trends.</a:t>
            </a:r>
          </a:p>
          <a:p>
            <a:endParaRPr lang="en-IN" dirty="0"/>
          </a:p>
        </p:txBody>
      </p:sp>
    </p:spTree>
    <p:extLst>
      <p:ext uri="{BB962C8B-B14F-4D97-AF65-F5344CB8AC3E}">
        <p14:creationId xmlns:p14="http://schemas.microsoft.com/office/powerpoint/2010/main" val="2303510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064A5-318F-3397-A403-A83EEA5B5E03}"/>
              </a:ext>
            </a:extLst>
          </p:cNvPr>
          <p:cNvSpPr>
            <a:spLocks noGrp="1"/>
          </p:cNvSpPr>
          <p:nvPr>
            <p:ph type="title"/>
          </p:nvPr>
        </p:nvSpPr>
        <p:spPr>
          <a:xfrm>
            <a:off x="547255" y="365125"/>
            <a:ext cx="10515600" cy="1325563"/>
          </a:xfrm>
        </p:spPr>
        <p:txBody>
          <a:bodyPr/>
          <a:lstStyle/>
          <a:p>
            <a:r>
              <a:rPr lang="en-IN" b="1" dirty="0">
                <a:latin typeface="Times New Roman" panose="02020603050405020304" pitchFamily="18" charset="0"/>
                <a:cs typeface="Times New Roman" panose="02020603050405020304" pitchFamily="18" charset="0"/>
              </a:rPr>
              <a:t>Need for Project </a:t>
            </a:r>
          </a:p>
        </p:txBody>
      </p:sp>
      <p:sp>
        <p:nvSpPr>
          <p:cNvPr id="4" name="Rectangle 1">
            <a:extLst>
              <a:ext uri="{FF2B5EF4-FFF2-40B4-BE49-F238E27FC236}">
                <a16:creationId xmlns:a16="http://schemas.microsoft.com/office/drawing/2014/main" id="{71B52058-14A0-A492-C938-6786A941F51A}"/>
              </a:ext>
            </a:extLst>
          </p:cNvPr>
          <p:cNvSpPr>
            <a:spLocks noGrp="1" noChangeArrowheads="1"/>
          </p:cNvSpPr>
          <p:nvPr>
            <p:ph idx="1"/>
          </p:nvPr>
        </p:nvSpPr>
        <p:spPr bwMode="auto">
          <a:xfrm>
            <a:off x="401781" y="2247221"/>
            <a:ext cx="11537373"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Buying or selling a house involves big money, so accurate price estimates are important.</a:t>
            </a:r>
          </a:p>
          <a:p>
            <a:pPr marR="0" lvl="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Housing prices change due to many factors that are hard to judge manually.</a:t>
            </a:r>
          </a:p>
          <a:p>
            <a:pPr marR="0" lvl="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lang="en-US" altLang="en-US" sz="2000" dirty="0">
                <a:latin typeface="Times New Roman" panose="02020603050405020304" pitchFamily="18" charset="0"/>
                <a:cs typeface="Times New Roman" panose="02020603050405020304" pitchFamily="18" charset="0"/>
              </a:rPr>
              <a:t>Would enable user to search home as per the budget.</a:t>
            </a:r>
          </a:p>
          <a:p>
            <a:pPr marR="0" lvl="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Machine learning helps make fair, data-based predictions.</a:t>
            </a:r>
          </a:p>
          <a:p>
            <a:pPr marR="0" lvl="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good prediction model supports better planning and decision-making in real estate.</a:t>
            </a:r>
          </a:p>
        </p:txBody>
      </p:sp>
    </p:spTree>
    <p:extLst>
      <p:ext uri="{BB962C8B-B14F-4D97-AF65-F5344CB8AC3E}">
        <p14:creationId xmlns:p14="http://schemas.microsoft.com/office/powerpoint/2010/main" val="3224805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50E9F-1B69-F584-5CDF-3712F8FC7EA0}"/>
              </a:ext>
            </a:extLst>
          </p:cNvPr>
          <p:cNvSpPr>
            <a:spLocks noGrp="1"/>
          </p:cNvSpPr>
          <p:nvPr>
            <p:ph type="title"/>
          </p:nvPr>
        </p:nvSpPr>
        <p:spPr>
          <a:xfrm>
            <a:off x="327313" y="136526"/>
            <a:ext cx="10515600" cy="788266"/>
          </a:xfrm>
        </p:spPr>
        <p:txBody>
          <a:bodyPr/>
          <a:lstStyle/>
          <a:p>
            <a:r>
              <a:rPr lang="en-IN" b="1" dirty="0">
                <a:latin typeface="Times New Roman" panose="02020603050405020304" pitchFamily="18" charset="0"/>
                <a:cs typeface="Times New Roman" panose="02020603050405020304" pitchFamily="18" charset="0"/>
              </a:rPr>
              <a:t>Proposed System </a:t>
            </a:r>
          </a:p>
        </p:txBody>
      </p:sp>
      <p:sp>
        <p:nvSpPr>
          <p:cNvPr id="4" name="Rectangle 1">
            <a:extLst>
              <a:ext uri="{FF2B5EF4-FFF2-40B4-BE49-F238E27FC236}">
                <a16:creationId xmlns:a16="http://schemas.microsoft.com/office/drawing/2014/main" id="{9B90F8B2-9C90-6CDA-B69A-AC421BA0056A}"/>
              </a:ext>
            </a:extLst>
          </p:cNvPr>
          <p:cNvSpPr>
            <a:spLocks noGrp="1" noChangeArrowheads="1"/>
          </p:cNvSpPr>
          <p:nvPr>
            <p:ph idx="1"/>
          </p:nvPr>
        </p:nvSpPr>
        <p:spPr bwMode="auto">
          <a:xfrm>
            <a:off x="327313" y="1137563"/>
            <a:ext cx="11537373"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Collect housing data including features like location, BHK, floor, total area, bathrooms, and amenities.</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 data cleaning: handle missing values, remove duplicates, and correct inconsistent entries.</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Encode categorical features (like location and society) into numerical values for modeling.</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Conduct exploratory data analysis to understand feature distributions, correlations, and outliers.</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Apply feature engineering to create new meaningful variables or transform skewed features (e.g., log-transforming prices).</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Split the dataset into training and testing sets for model evaluation.</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Train multiple regression models (Linear Regression, Random Forest, Gradient Boosting, etc.) and compare performance metrics.</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Select the best-performing model and fine-tune hyperparameters for improved accuracy.</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the final model to predict house prices and identify key factors influencing price.</a:t>
            </a:r>
          </a:p>
        </p:txBody>
      </p:sp>
    </p:spTree>
    <p:extLst>
      <p:ext uri="{BB962C8B-B14F-4D97-AF65-F5344CB8AC3E}">
        <p14:creationId xmlns:p14="http://schemas.microsoft.com/office/powerpoint/2010/main" val="24865260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82498-AE9A-E8ED-9A4B-FCD97726140F}"/>
              </a:ext>
            </a:extLst>
          </p:cNvPr>
          <p:cNvSpPr>
            <a:spLocks noGrp="1"/>
          </p:cNvSpPr>
          <p:nvPr>
            <p:ph type="title"/>
          </p:nvPr>
        </p:nvSpPr>
        <p:spPr>
          <a:xfrm>
            <a:off x="0" y="0"/>
            <a:ext cx="10515600" cy="1096962"/>
          </a:xfrm>
        </p:spPr>
        <p:txBody>
          <a:bodyPr/>
          <a:lstStyle/>
          <a:p>
            <a:r>
              <a:rPr lang="en-IN" b="1" dirty="0">
                <a:latin typeface="Times New Roman" panose="02020603050405020304" pitchFamily="18" charset="0"/>
                <a:cs typeface="Times New Roman" panose="02020603050405020304" pitchFamily="18" charset="0"/>
              </a:rPr>
              <a:t>Snapshot of Data </a:t>
            </a:r>
          </a:p>
        </p:txBody>
      </p:sp>
      <p:pic>
        <p:nvPicPr>
          <p:cNvPr id="9" name="Content Placeholder 8">
            <a:extLst>
              <a:ext uri="{FF2B5EF4-FFF2-40B4-BE49-F238E27FC236}">
                <a16:creationId xmlns:a16="http://schemas.microsoft.com/office/drawing/2014/main" id="{4C0D116B-E9DD-3034-5F43-62BE6F3A7F11}"/>
              </a:ext>
            </a:extLst>
          </p:cNvPr>
          <p:cNvPicPr>
            <a:picLocks noGrp="1" noChangeAspect="1"/>
          </p:cNvPicPr>
          <p:nvPr>
            <p:ph idx="1"/>
          </p:nvPr>
        </p:nvPicPr>
        <p:blipFill>
          <a:blip r:embed="rId2"/>
          <a:stretch>
            <a:fillRect/>
          </a:stretch>
        </p:blipFill>
        <p:spPr>
          <a:xfrm>
            <a:off x="2423679" y="1431575"/>
            <a:ext cx="7344642" cy="5051205"/>
          </a:xfrm>
          <a:prstGeom prst="rect">
            <a:avLst/>
          </a:prstGeom>
        </p:spPr>
      </p:pic>
      <p:sp>
        <p:nvSpPr>
          <p:cNvPr id="10" name="TextBox 9">
            <a:extLst>
              <a:ext uri="{FF2B5EF4-FFF2-40B4-BE49-F238E27FC236}">
                <a16:creationId xmlns:a16="http://schemas.microsoft.com/office/drawing/2014/main" id="{F974A3EA-5D73-95B8-D92B-36B8840C8E23}"/>
              </a:ext>
            </a:extLst>
          </p:cNvPr>
          <p:cNvSpPr txBox="1"/>
          <p:nvPr/>
        </p:nvSpPr>
        <p:spPr>
          <a:xfrm>
            <a:off x="1238484" y="1062243"/>
            <a:ext cx="9715032" cy="369332"/>
          </a:xfrm>
          <a:prstGeom prst="rect">
            <a:avLst/>
          </a:prstGeom>
          <a:noFill/>
        </p:spPr>
        <p:txBody>
          <a:bodyPr wrap="none" rtlCol="0">
            <a:spAutoFit/>
          </a:bodyPr>
          <a:lstStyle/>
          <a:p>
            <a:r>
              <a:rPr lang="en-IN" dirty="0"/>
              <a:t>The following snapshot shows the head of the data taken from Dataset used in House Price Prediction </a:t>
            </a:r>
          </a:p>
        </p:txBody>
      </p:sp>
    </p:spTree>
    <p:extLst>
      <p:ext uri="{BB962C8B-B14F-4D97-AF65-F5344CB8AC3E}">
        <p14:creationId xmlns:p14="http://schemas.microsoft.com/office/powerpoint/2010/main" val="534631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6B1BE-8BE0-98B9-FC44-39E217D334DD}"/>
              </a:ext>
            </a:extLst>
          </p:cNvPr>
          <p:cNvSpPr>
            <a:spLocks noGrp="1"/>
          </p:cNvSpPr>
          <p:nvPr>
            <p:ph type="title"/>
          </p:nvPr>
        </p:nvSpPr>
        <p:spPr>
          <a:xfrm>
            <a:off x="176729" y="285334"/>
            <a:ext cx="10515600" cy="763624"/>
          </a:xfrm>
        </p:spPr>
        <p:txBody>
          <a:bodyPr/>
          <a:lstStyle/>
          <a:p>
            <a:r>
              <a:rPr lang="en-IN" b="1" dirty="0">
                <a:latin typeface="Times New Roman" panose="02020603050405020304" pitchFamily="18" charset="0"/>
                <a:cs typeface="Times New Roman" panose="02020603050405020304" pitchFamily="18" charset="0"/>
              </a:rPr>
              <a:t>Dataset Description </a:t>
            </a:r>
          </a:p>
        </p:txBody>
      </p:sp>
      <p:sp>
        <p:nvSpPr>
          <p:cNvPr id="3" name="Content Placeholder 2">
            <a:extLst>
              <a:ext uri="{FF2B5EF4-FFF2-40B4-BE49-F238E27FC236}">
                <a16:creationId xmlns:a16="http://schemas.microsoft.com/office/drawing/2014/main" id="{13015D07-D747-09E7-7145-4973E34592FF}"/>
              </a:ext>
            </a:extLst>
          </p:cNvPr>
          <p:cNvSpPr>
            <a:spLocks noGrp="1"/>
          </p:cNvSpPr>
          <p:nvPr>
            <p:ph idx="1"/>
          </p:nvPr>
        </p:nvSpPr>
        <p:spPr>
          <a:xfrm>
            <a:off x="744686" y="1335051"/>
            <a:ext cx="11447314" cy="5262636"/>
          </a:xfrm>
        </p:spPr>
        <p:txBody>
          <a:bodyPr>
            <a:normAutofit fontScale="85000" lnSpcReduction="20000"/>
          </a:bodyPr>
          <a:lstStyle/>
          <a:p>
            <a:pPr marL="0" indent="0">
              <a:buNone/>
            </a:pPr>
            <a:r>
              <a:rPr lang="en-IN" b="1" dirty="0">
                <a:solidFill>
                  <a:schemeClr val="accent5">
                    <a:lumMod val="50000"/>
                  </a:schemeClr>
                </a:solidFill>
              </a:rPr>
              <a:t>Dataset Size:  187531 x 21 (Link to the data: </a:t>
            </a:r>
            <a:r>
              <a:rPr lang="en-IN" sz="1900" b="1" i="1" dirty="0">
                <a:solidFill>
                  <a:schemeClr val="accent5">
                    <a:lumMod val="75000"/>
                  </a:schemeClr>
                </a:solidFill>
              </a:rPr>
              <a:t>https://www.kaggle.com/datasets/juhibhojani/house-price</a:t>
            </a:r>
            <a:r>
              <a:rPr lang="en-IN" b="1" dirty="0">
                <a:solidFill>
                  <a:schemeClr val="accent5">
                    <a:lumMod val="50000"/>
                  </a:schemeClr>
                </a:solidFill>
              </a:rPr>
              <a:t>)</a:t>
            </a:r>
            <a:endParaRPr lang="en-IN" b="1" i="1" dirty="0">
              <a:solidFill>
                <a:schemeClr val="accent5">
                  <a:lumMod val="75000"/>
                </a:schemeClr>
              </a:solidFill>
            </a:endParaRPr>
          </a:p>
          <a:p>
            <a:pPr marL="0" indent="0">
              <a:buNone/>
            </a:pPr>
            <a:r>
              <a:rPr lang="en-IN" dirty="0"/>
              <a:t>	Following are the parameters in dataset for house price prediction:</a:t>
            </a:r>
          </a:p>
          <a:p>
            <a:pPr marL="0" indent="0">
              <a:buNone/>
            </a:pPr>
            <a:r>
              <a:rPr lang="en-IN" dirty="0"/>
              <a:t> </a:t>
            </a:r>
          </a:p>
          <a:p>
            <a:pPr latinLnBrk="1"/>
            <a:r>
              <a:rPr lang="en-US" sz="2400" dirty="0">
                <a:solidFill>
                  <a:schemeClr val="accent5">
                    <a:lumMod val="75000"/>
                  </a:schemeClr>
                </a:solidFill>
              </a:rPr>
              <a:t>Index</a:t>
            </a:r>
          </a:p>
          <a:p>
            <a:pPr latinLnBrk="1"/>
            <a:r>
              <a:rPr lang="en-US" sz="2400" dirty="0">
                <a:solidFill>
                  <a:schemeClr val="accent5">
                    <a:lumMod val="75000"/>
                  </a:schemeClr>
                </a:solidFill>
              </a:rPr>
              <a:t>Title</a:t>
            </a:r>
          </a:p>
          <a:p>
            <a:pPr latinLnBrk="1"/>
            <a:r>
              <a:rPr lang="en-US" sz="2400" dirty="0">
                <a:solidFill>
                  <a:schemeClr val="accent5">
                    <a:lumMod val="75000"/>
                  </a:schemeClr>
                </a:solidFill>
              </a:rPr>
              <a:t>Description</a:t>
            </a:r>
          </a:p>
          <a:p>
            <a:pPr latinLnBrk="1"/>
            <a:r>
              <a:rPr lang="en-US" sz="2400" dirty="0">
                <a:solidFill>
                  <a:schemeClr val="accent5">
                    <a:lumMod val="75000"/>
                  </a:schemeClr>
                </a:solidFill>
              </a:rPr>
              <a:t>Amount(in rupees)</a:t>
            </a:r>
          </a:p>
          <a:p>
            <a:pPr latinLnBrk="1"/>
            <a:r>
              <a:rPr lang="en-US" sz="2400" dirty="0">
                <a:solidFill>
                  <a:schemeClr val="accent5">
                    <a:lumMod val="75000"/>
                  </a:schemeClr>
                </a:solidFill>
              </a:rPr>
              <a:t>Price (in rupees)</a:t>
            </a:r>
          </a:p>
          <a:p>
            <a:pPr latinLnBrk="1"/>
            <a:r>
              <a:rPr lang="en-US" sz="2400" dirty="0">
                <a:solidFill>
                  <a:schemeClr val="accent5">
                    <a:lumMod val="75000"/>
                  </a:schemeClr>
                </a:solidFill>
              </a:rPr>
              <a:t>location</a:t>
            </a:r>
          </a:p>
          <a:p>
            <a:pPr latinLnBrk="1"/>
            <a:r>
              <a:rPr lang="en-US" sz="2400" dirty="0">
                <a:solidFill>
                  <a:schemeClr val="accent5">
                    <a:lumMod val="75000"/>
                  </a:schemeClr>
                </a:solidFill>
              </a:rPr>
              <a:t>Carpet Area</a:t>
            </a:r>
          </a:p>
          <a:p>
            <a:pPr latinLnBrk="1"/>
            <a:r>
              <a:rPr lang="en-US" sz="2400" dirty="0">
                <a:solidFill>
                  <a:schemeClr val="accent5">
                    <a:lumMod val="75000"/>
                  </a:schemeClr>
                </a:solidFill>
              </a:rPr>
              <a:t>Status</a:t>
            </a:r>
          </a:p>
          <a:p>
            <a:pPr latinLnBrk="1"/>
            <a:r>
              <a:rPr lang="en-US" sz="2400" dirty="0">
                <a:solidFill>
                  <a:schemeClr val="accent5">
                    <a:lumMod val="75000"/>
                  </a:schemeClr>
                </a:solidFill>
              </a:rPr>
              <a:t>Floor</a:t>
            </a:r>
          </a:p>
          <a:p>
            <a:pPr latinLnBrk="1"/>
            <a:r>
              <a:rPr lang="en-US" sz="2400" dirty="0">
                <a:solidFill>
                  <a:schemeClr val="accent5">
                    <a:lumMod val="75000"/>
                  </a:schemeClr>
                </a:solidFill>
              </a:rPr>
              <a:t>Transaction</a:t>
            </a:r>
          </a:p>
          <a:p>
            <a:pPr latinLnBrk="1"/>
            <a:r>
              <a:rPr lang="en-US" sz="2400" dirty="0">
                <a:solidFill>
                  <a:schemeClr val="accent5">
                    <a:lumMod val="75000"/>
                  </a:schemeClr>
                </a:solidFill>
              </a:rPr>
              <a:t>Furnishing</a:t>
            </a:r>
          </a:p>
          <a:p>
            <a:pPr latinLnBrk="1"/>
            <a:endParaRPr lang="en-US" dirty="0"/>
          </a:p>
          <a:p>
            <a:endParaRPr lang="en-IN" dirty="0"/>
          </a:p>
        </p:txBody>
      </p:sp>
      <p:sp>
        <p:nvSpPr>
          <p:cNvPr id="5" name="Content Placeholder 2">
            <a:extLst>
              <a:ext uri="{FF2B5EF4-FFF2-40B4-BE49-F238E27FC236}">
                <a16:creationId xmlns:a16="http://schemas.microsoft.com/office/drawing/2014/main" id="{1E7923D0-E140-D8F8-E25C-86ABFD8AE1E0}"/>
              </a:ext>
            </a:extLst>
          </p:cNvPr>
          <p:cNvSpPr txBox="1">
            <a:spLocks/>
          </p:cNvSpPr>
          <p:nvPr/>
        </p:nvSpPr>
        <p:spPr>
          <a:xfrm>
            <a:off x="4523509" y="1482725"/>
            <a:ext cx="6341918"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atinLnBrk="1"/>
            <a:endParaRPr lang="en-US" dirty="0"/>
          </a:p>
          <a:p>
            <a:endParaRPr lang="en-IN" dirty="0"/>
          </a:p>
        </p:txBody>
      </p:sp>
      <p:sp>
        <p:nvSpPr>
          <p:cNvPr id="6" name="Content Placeholder 2">
            <a:extLst>
              <a:ext uri="{FF2B5EF4-FFF2-40B4-BE49-F238E27FC236}">
                <a16:creationId xmlns:a16="http://schemas.microsoft.com/office/drawing/2014/main" id="{D357D6DD-287B-784F-4932-50DCDEA0F0B6}"/>
              </a:ext>
            </a:extLst>
          </p:cNvPr>
          <p:cNvSpPr txBox="1">
            <a:spLocks/>
          </p:cNvSpPr>
          <p:nvPr/>
        </p:nvSpPr>
        <p:spPr>
          <a:xfrm>
            <a:off x="6056173" y="2350259"/>
            <a:ext cx="255789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atinLnBrk="1"/>
            <a:r>
              <a:rPr lang="en-US" sz="2000" dirty="0">
                <a:solidFill>
                  <a:schemeClr val="accent5">
                    <a:lumMod val="75000"/>
                  </a:schemeClr>
                </a:solidFill>
              </a:rPr>
              <a:t>facing</a:t>
            </a:r>
          </a:p>
          <a:p>
            <a:pPr latinLnBrk="1"/>
            <a:r>
              <a:rPr lang="en-US" sz="2000" dirty="0">
                <a:solidFill>
                  <a:schemeClr val="accent5">
                    <a:lumMod val="75000"/>
                  </a:schemeClr>
                </a:solidFill>
              </a:rPr>
              <a:t>overlooking</a:t>
            </a:r>
          </a:p>
          <a:p>
            <a:pPr latinLnBrk="1"/>
            <a:r>
              <a:rPr lang="en-US" sz="2000" dirty="0">
                <a:solidFill>
                  <a:schemeClr val="accent5">
                    <a:lumMod val="75000"/>
                  </a:schemeClr>
                </a:solidFill>
              </a:rPr>
              <a:t>Society</a:t>
            </a:r>
          </a:p>
          <a:p>
            <a:pPr latinLnBrk="1"/>
            <a:r>
              <a:rPr lang="en-US" sz="2000" dirty="0">
                <a:solidFill>
                  <a:schemeClr val="accent5">
                    <a:lumMod val="75000"/>
                  </a:schemeClr>
                </a:solidFill>
              </a:rPr>
              <a:t>Bathroom</a:t>
            </a:r>
          </a:p>
          <a:p>
            <a:pPr latinLnBrk="1"/>
            <a:r>
              <a:rPr lang="en-US" sz="2000" dirty="0">
                <a:solidFill>
                  <a:schemeClr val="accent5">
                    <a:lumMod val="75000"/>
                  </a:schemeClr>
                </a:solidFill>
              </a:rPr>
              <a:t>Balcony</a:t>
            </a:r>
          </a:p>
          <a:p>
            <a:pPr latinLnBrk="1"/>
            <a:r>
              <a:rPr lang="en-US" sz="2000" dirty="0">
                <a:solidFill>
                  <a:schemeClr val="accent5">
                    <a:lumMod val="75000"/>
                  </a:schemeClr>
                </a:solidFill>
              </a:rPr>
              <a:t>Car Parking</a:t>
            </a:r>
          </a:p>
          <a:p>
            <a:pPr latinLnBrk="1"/>
            <a:r>
              <a:rPr lang="en-US" sz="2000" dirty="0">
                <a:solidFill>
                  <a:schemeClr val="accent5">
                    <a:lumMod val="75000"/>
                  </a:schemeClr>
                </a:solidFill>
              </a:rPr>
              <a:t>Ownership</a:t>
            </a:r>
          </a:p>
          <a:p>
            <a:pPr latinLnBrk="1"/>
            <a:r>
              <a:rPr lang="en-US" sz="2000" dirty="0">
                <a:solidFill>
                  <a:schemeClr val="accent5">
                    <a:lumMod val="75000"/>
                  </a:schemeClr>
                </a:solidFill>
              </a:rPr>
              <a:t>Super Area</a:t>
            </a:r>
          </a:p>
          <a:p>
            <a:pPr latinLnBrk="1"/>
            <a:r>
              <a:rPr lang="en-US" sz="2000" dirty="0">
                <a:solidFill>
                  <a:schemeClr val="accent5">
                    <a:lumMod val="75000"/>
                  </a:schemeClr>
                </a:solidFill>
              </a:rPr>
              <a:t>Dimensions          </a:t>
            </a:r>
          </a:p>
          <a:p>
            <a:pPr latinLnBrk="1"/>
            <a:r>
              <a:rPr lang="en-US" sz="2000" dirty="0">
                <a:solidFill>
                  <a:schemeClr val="accent5">
                    <a:lumMod val="75000"/>
                  </a:schemeClr>
                </a:solidFill>
              </a:rPr>
              <a:t> Plot Area</a:t>
            </a:r>
            <a:endParaRPr lang="en-IN" sz="2000" dirty="0">
              <a:solidFill>
                <a:schemeClr val="accent5">
                  <a:lumMod val="75000"/>
                </a:schemeClr>
              </a:solidFill>
            </a:endParaRPr>
          </a:p>
          <a:p>
            <a:pPr latinLnBrk="1"/>
            <a:endParaRPr lang="en-US" sz="2400" dirty="0"/>
          </a:p>
          <a:p>
            <a:endParaRPr lang="en-IN" dirty="0"/>
          </a:p>
        </p:txBody>
      </p:sp>
    </p:spTree>
    <p:extLst>
      <p:ext uri="{BB962C8B-B14F-4D97-AF65-F5344CB8AC3E}">
        <p14:creationId xmlns:p14="http://schemas.microsoft.com/office/powerpoint/2010/main" val="639558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0885D-B267-DFDA-FF30-30AB265E847B}"/>
              </a:ext>
            </a:extLst>
          </p:cNvPr>
          <p:cNvSpPr>
            <a:spLocks noGrp="1"/>
          </p:cNvSpPr>
          <p:nvPr>
            <p:ph type="title"/>
          </p:nvPr>
        </p:nvSpPr>
        <p:spPr>
          <a:xfrm>
            <a:off x="235527" y="177919"/>
            <a:ext cx="10515600" cy="933739"/>
          </a:xfrm>
        </p:spPr>
        <p:txBody>
          <a:bodyPr/>
          <a:lstStyle/>
          <a:p>
            <a:r>
              <a:rPr lang="en-IN" b="1" dirty="0">
                <a:latin typeface="Times New Roman" panose="02020603050405020304" pitchFamily="18" charset="0"/>
                <a:cs typeface="Times New Roman" panose="02020603050405020304" pitchFamily="18" charset="0"/>
              </a:rPr>
              <a:t>Pipeline </a:t>
            </a:r>
          </a:p>
        </p:txBody>
      </p:sp>
      <p:grpSp>
        <p:nvGrpSpPr>
          <p:cNvPr id="25" name="Group 24">
            <a:extLst>
              <a:ext uri="{FF2B5EF4-FFF2-40B4-BE49-F238E27FC236}">
                <a16:creationId xmlns:a16="http://schemas.microsoft.com/office/drawing/2014/main" id="{1EB3AAB9-320B-87B8-4CA1-A36C4D616830}"/>
              </a:ext>
            </a:extLst>
          </p:cNvPr>
          <p:cNvGrpSpPr/>
          <p:nvPr/>
        </p:nvGrpSpPr>
        <p:grpSpPr>
          <a:xfrm>
            <a:off x="5877791" y="332325"/>
            <a:ext cx="4748645" cy="6193349"/>
            <a:chOff x="5912431" y="363677"/>
            <a:chExt cx="4748645" cy="6193349"/>
          </a:xfrm>
        </p:grpSpPr>
        <p:sp>
          <p:nvSpPr>
            <p:cNvPr id="7" name="Arrow: Down 6">
              <a:extLst>
                <a:ext uri="{FF2B5EF4-FFF2-40B4-BE49-F238E27FC236}">
                  <a16:creationId xmlns:a16="http://schemas.microsoft.com/office/drawing/2014/main" id="{264724B4-9896-6A74-1874-00913F17279D}"/>
                </a:ext>
              </a:extLst>
            </p:cNvPr>
            <p:cNvSpPr/>
            <p:nvPr/>
          </p:nvSpPr>
          <p:spPr>
            <a:xfrm>
              <a:off x="8214016" y="1610304"/>
              <a:ext cx="155863" cy="3622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Arrow: Down 8">
              <a:extLst>
                <a:ext uri="{FF2B5EF4-FFF2-40B4-BE49-F238E27FC236}">
                  <a16:creationId xmlns:a16="http://schemas.microsoft.com/office/drawing/2014/main" id="{D924B16E-370E-5886-E358-A3D3CB8502B4}"/>
                </a:ext>
              </a:extLst>
            </p:cNvPr>
            <p:cNvSpPr/>
            <p:nvPr/>
          </p:nvSpPr>
          <p:spPr>
            <a:xfrm>
              <a:off x="8214016" y="2459691"/>
              <a:ext cx="155863" cy="3622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Arrow: Down 10">
              <a:extLst>
                <a:ext uri="{FF2B5EF4-FFF2-40B4-BE49-F238E27FC236}">
                  <a16:creationId xmlns:a16="http://schemas.microsoft.com/office/drawing/2014/main" id="{63EA8A6C-F7A3-52D2-41B8-5FB59DEA4202}"/>
                </a:ext>
              </a:extLst>
            </p:cNvPr>
            <p:cNvSpPr/>
            <p:nvPr/>
          </p:nvSpPr>
          <p:spPr>
            <a:xfrm>
              <a:off x="8214016" y="3331814"/>
              <a:ext cx="155863" cy="3622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Down 14">
              <a:extLst>
                <a:ext uri="{FF2B5EF4-FFF2-40B4-BE49-F238E27FC236}">
                  <a16:creationId xmlns:a16="http://schemas.microsoft.com/office/drawing/2014/main" id="{2BECECB6-0CAD-7E50-B838-6D87A21D6674}"/>
                </a:ext>
              </a:extLst>
            </p:cNvPr>
            <p:cNvSpPr/>
            <p:nvPr/>
          </p:nvSpPr>
          <p:spPr>
            <a:xfrm>
              <a:off x="8214016" y="4136658"/>
              <a:ext cx="155863" cy="3622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Arrow: Down 18">
              <a:extLst>
                <a:ext uri="{FF2B5EF4-FFF2-40B4-BE49-F238E27FC236}">
                  <a16:creationId xmlns:a16="http://schemas.microsoft.com/office/drawing/2014/main" id="{8D2DD06A-2E84-BC47-2461-A825E8A1EAD1}"/>
                </a:ext>
              </a:extLst>
            </p:cNvPr>
            <p:cNvSpPr/>
            <p:nvPr/>
          </p:nvSpPr>
          <p:spPr>
            <a:xfrm>
              <a:off x="8214016" y="4968359"/>
              <a:ext cx="155863" cy="3622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Arrow: Down 20">
              <a:extLst>
                <a:ext uri="{FF2B5EF4-FFF2-40B4-BE49-F238E27FC236}">
                  <a16:creationId xmlns:a16="http://schemas.microsoft.com/office/drawing/2014/main" id="{BAF1F84D-AF80-265E-0791-4D9E5A86EB50}"/>
                </a:ext>
              </a:extLst>
            </p:cNvPr>
            <p:cNvSpPr/>
            <p:nvPr/>
          </p:nvSpPr>
          <p:spPr>
            <a:xfrm>
              <a:off x="8214016" y="5789551"/>
              <a:ext cx="155863" cy="3622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4" name="Group 23">
              <a:extLst>
                <a:ext uri="{FF2B5EF4-FFF2-40B4-BE49-F238E27FC236}">
                  <a16:creationId xmlns:a16="http://schemas.microsoft.com/office/drawing/2014/main" id="{729E34AD-9839-0EED-2074-116F9ACC9397}"/>
                </a:ext>
              </a:extLst>
            </p:cNvPr>
            <p:cNvGrpSpPr/>
            <p:nvPr/>
          </p:nvGrpSpPr>
          <p:grpSpPr>
            <a:xfrm>
              <a:off x="5912431" y="363677"/>
              <a:ext cx="4748645" cy="6193349"/>
              <a:chOff x="5912431" y="363677"/>
              <a:chExt cx="4748645" cy="6193349"/>
            </a:xfrm>
          </p:grpSpPr>
          <p:sp>
            <p:nvSpPr>
              <p:cNvPr id="4" name="Rectangle 3">
                <a:extLst>
                  <a:ext uri="{FF2B5EF4-FFF2-40B4-BE49-F238E27FC236}">
                    <a16:creationId xmlns:a16="http://schemas.microsoft.com/office/drawing/2014/main" id="{E9F2D200-6A08-D8B6-5738-DD28444DA887}"/>
                  </a:ext>
                </a:extLst>
              </p:cNvPr>
              <p:cNvSpPr/>
              <p:nvPr/>
            </p:nvSpPr>
            <p:spPr>
              <a:xfrm>
                <a:off x="5922821" y="363677"/>
                <a:ext cx="4738255" cy="362238"/>
              </a:xfrm>
              <a:prstGeom prst="rect">
                <a:avLst/>
              </a:prstGeom>
              <a:solidFill>
                <a:schemeClr val="accent1">
                  <a:lumMod val="60000"/>
                  <a:lumOff val="4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Data Collection </a:t>
                </a:r>
              </a:p>
            </p:txBody>
          </p:sp>
          <p:sp>
            <p:nvSpPr>
              <p:cNvPr id="5" name="Arrow: Down 4">
                <a:extLst>
                  <a:ext uri="{FF2B5EF4-FFF2-40B4-BE49-F238E27FC236}">
                    <a16:creationId xmlns:a16="http://schemas.microsoft.com/office/drawing/2014/main" id="{F23E9358-5282-900D-C814-DDF96565FF53}"/>
                  </a:ext>
                </a:extLst>
              </p:cNvPr>
              <p:cNvSpPr/>
              <p:nvPr/>
            </p:nvSpPr>
            <p:spPr>
              <a:xfrm>
                <a:off x="8214021" y="767344"/>
                <a:ext cx="155863" cy="3622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1983E01A-CDFC-6637-8391-F5F14D24AA7E}"/>
                  </a:ext>
                </a:extLst>
              </p:cNvPr>
              <p:cNvSpPr/>
              <p:nvPr/>
            </p:nvSpPr>
            <p:spPr>
              <a:xfrm>
                <a:off x="5922821" y="1160822"/>
                <a:ext cx="4738255" cy="414193"/>
              </a:xfrm>
              <a:prstGeom prst="rect">
                <a:avLst/>
              </a:prstGeom>
              <a:solidFill>
                <a:schemeClr val="accent1">
                  <a:lumMod val="60000"/>
                  <a:lumOff val="4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Data Cleaning and Pre-processing </a:t>
                </a:r>
              </a:p>
            </p:txBody>
          </p:sp>
          <p:sp>
            <p:nvSpPr>
              <p:cNvPr id="8" name="Rectangle 7">
                <a:extLst>
                  <a:ext uri="{FF2B5EF4-FFF2-40B4-BE49-F238E27FC236}">
                    <a16:creationId xmlns:a16="http://schemas.microsoft.com/office/drawing/2014/main" id="{B7F651D3-9FDC-1938-5EB7-956724A02946}"/>
                  </a:ext>
                </a:extLst>
              </p:cNvPr>
              <p:cNvSpPr/>
              <p:nvPr/>
            </p:nvSpPr>
            <p:spPr>
              <a:xfrm>
                <a:off x="5912432" y="2016264"/>
                <a:ext cx="4738255" cy="414193"/>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Exploratory Data Analysis (EDA) </a:t>
                </a:r>
              </a:p>
            </p:txBody>
          </p:sp>
          <p:sp>
            <p:nvSpPr>
              <p:cNvPr id="10" name="Rectangle 9">
                <a:extLst>
                  <a:ext uri="{FF2B5EF4-FFF2-40B4-BE49-F238E27FC236}">
                    <a16:creationId xmlns:a16="http://schemas.microsoft.com/office/drawing/2014/main" id="{68CC79C3-F8D6-FE81-F7D5-DBB9540ADE76}"/>
                  </a:ext>
                </a:extLst>
              </p:cNvPr>
              <p:cNvSpPr/>
              <p:nvPr/>
            </p:nvSpPr>
            <p:spPr>
              <a:xfrm>
                <a:off x="5922821" y="2871706"/>
                <a:ext cx="4738255" cy="433251"/>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Feature Selection/ Feature Engineering </a:t>
                </a:r>
              </a:p>
            </p:txBody>
          </p:sp>
          <p:sp>
            <p:nvSpPr>
              <p:cNvPr id="14" name="Rectangle 13">
                <a:extLst>
                  <a:ext uri="{FF2B5EF4-FFF2-40B4-BE49-F238E27FC236}">
                    <a16:creationId xmlns:a16="http://schemas.microsoft.com/office/drawing/2014/main" id="{E7D87018-53B6-059C-2224-855868D56C14}"/>
                  </a:ext>
                </a:extLst>
              </p:cNvPr>
              <p:cNvSpPr/>
              <p:nvPr/>
            </p:nvSpPr>
            <p:spPr>
              <a:xfrm>
                <a:off x="5912431" y="3720909"/>
                <a:ext cx="4738255" cy="362238"/>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Train-Test Split </a:t>
                </a:r>
              </a:p>
            </p:txBody>
          </p:sp>
          <p:sp>
            <p:nvSpPr>
              <p:cNvPr id="18" name="Rectangle 17">
                <a:extLst>
                  <a:ext uri="{FF2B5EF4-FFF2-40B4-BE49-F238E27FC236}">
                    <a16:creationId xmlns:a16="http://schemas.microsoft.com/office/drawing/2014/main" id="{51CDDD49-5F97-6FF2-F228-0B75EE972C94}"/>
                  </a:ext>
                </a:extLst>
              </p:cNvPr>
              <p:cNvSpPr/>
              <p:nvPr/>
            </p:nvSpPr>
            <p:spPr>
              <a:xfrm>
                <a:off x="5922821" y="4552407"/>
                <a:ext cx="4738255" cy="371170"/>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Model Training </a:t>
                </a:r>
              </a:p>
            </p:txBody>
          </p:sp>
          <p:sp>
            <p:nvSpPr>
              <p:cNvPr id="20" name="Rectangle 19">
                <a:extLst>
                  <a:ext uri="{FF2B5EF4-FFF2-40B4-BE49-F238E27FC236}">
                    <a16:creationId xmlns:a16="http://schemas.microsoft.com/office/drawing/2014/main" id="{4D5743E7-4848-8667-C2F8-C97CC1195830}"/>
                  </a:ext>
                </a:extLst>
              </p:cNvPr>
              <p:cNvSpPr/>
              <p:nvPr/>
            </p:nvSpPr>
            <p:spPr>
              <a:xfrm>
                <a:off x="5922821" y="5373599"/>
                <a:ext cx="4738255" cy="371170"/>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Model Evaluation </a:t>
                </a:r>
              </a:p>
            </p:txBody>
          </p:sp>
          <p:sp>
            <p:nvSpPr>
              <p:cNvPr id="22" name="Rectangle 21">
                <a:extLst>
                  <a:ext uri="{FF2B5EF4-FFF2-40B4-BE49-F238E27FC236}">
                    <a16:creationId xmlns:a16="http://schemas.microsoft.com/office/drawing/2014/main" id="{85E4896B-3122-233F-0DF3-544212DBCCEC}"/>
                  </a:ext>
                </a:extLst>
              </p:cNvPr>
              <p:cNvSpPr/>
              <p:nvPr/>
            </p:nvSpPr>
            <p:spPr>
              <a:xfrm>
                <a:off x="5922821" y="6185856"/>
                <a:ext cx="4738255" cy="371170"/>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Final Model Selection </a:t>
                </a:r>
              </a:p>
            </p:txBody>
          </p:sp>
        </p:grpSp>
      </p:grpSp>
    </p:spTree>
    <p:extLst>
      <p:ext uri="{BB962C8B-B14F-4D97-AF65-F5344CB8AC3E}">
        <p14:creationId xmlns:p14="http://schemas.microsoft.com/office/powerpoint/2010/main" val="2163402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7C73E-9F18-9366-A189-9E7744360622}"/>
              </a:ext>
            </a:extLst>
          </p:cNvPr>
          <p:cNvSpPr>
            <a:spLocks noGrp="1"/>
          </p:cNvSpPr>
          <p:nvPr>
            <p:ph type="title"/>
          </p:nvPr>
        </p:nvSpPr>
        <p:spPr>
          <a:xfrm>
            <a:off x="69715" y="18255"/>
            <a:ext cx="10515600" cy="769685"/>
          </a:xfrm>
        </p:spPr>
        <p:txBody>
          <a:bodyPr/>
          <a:lstStyle/>
          <a:p>
            <a:r>
              <a:rPr lang="en-IN" b="1" dirty="0">
                <a:latin typeface="Times New Roman" panose="02020603050405020304" pitchFamily="18" charset="0"/>
                <a:cs typeface="Times New Roman" panose="02020603050405020304" pitchFamily="18" charset="0"/>
              </a:rPr>
              <a:t>Data Cleaning and Pre-processing </a:t>
            </a:r>
          </a:p>
        </p:txBody>
      </p:sp>
      <p:sp>
        <p:nvSpPr>
          <p:cNvPr id="3" name="Content Placeholder 2">
            <a:extLst>
              <a:ext uri="{FF2B5EF4-FFF2-40B4-BE49-F238E27FC236}">
                <a16:creationId xmlns:a16="http://schemas.microsoft.com/office/drawing/2014/main" id="{B6E73B02-768D-ADB3-EE65-8F6CA7A53C00}"/>
              </a:ext>
            </a:extLst>
          </p:cNvPr>
          <p:cNvSpPr>
            <a:spLocks noGrp="1"/>
          </p:cNvSpPr>
          <p:nvPr>
            <p:ph idx="1"/>
          </p:nvPr>
        </p:nvSpPr>
        <p:spPr>
          <a:xfrm>
            <a:off x="241030" y="857300"/>
            <a:ext cx="10515600" cy="5886400"/>
          </a:xfrm>
        </p:spPr>
        <p:txBody>
          <a:bodyPr>
            <a:normAutofit lnSpcReduction="10000"/>
          </a:bodyPr>
          <a:lstStyle/>
          <a:p>
            <a:r>
              <a:rPr lang="en-IN" sz="1800" dirty="0">
                <a:latin typeface="Times New Roman" panose="02020603050405020304" pitchFamily="18" charset="0"/>
                <a:cs typeface="Times New Roman" panose="02020603050405020304" pitchFamily="18" charset="0"/>
              </a:rPr>
              <a:t>The main aim of Data Cleaning is to identify and remove errors and duplicate data, in order to create a reliable dataset. </a:t>
            </a:r>
          </a:p>
          <a:p>
            <a:r>
              <a:rPr lang="en-IN" sz="1800" dirty="0">
                <a:latin typeface="Times New Roman" panose="02020603050405020304" pitchFamily="18" charset="0"/>
                <a:cs typeface="Times New Roman" panose="02020603050405020304" pitchFamily="18" charset="0"/>
              </a:rPr>
              <a:t>The process of data cleaning is done by using a very famous library pandas. </a:t>
            </a:r>
          </a:p>
          <a:p>
            <a:r>
              <a:rPr lang="en-IN" sz="1800" dirty="0">
                <a:latin typeface="Times New Roman" panose="02020603050405020304" pitchFamily="18" charset="0"/>
                <a:cs typeface="Times New Roman" panose="02020603050405020304" pitchFamily="18" charset="0"/>
              </a:rPr>
              <a:t>Initially those columns/features and values (non-relevant) are dropped from our dataset which showed only null values in the entire column.</a:t>
            </a:r>
          </a:p>
          <a:p>
            <a:r>
              <a:rPr lang="en-IN" sz="1800" dirty="0">
                <a:latin typeface="Times New Roman" panose="02020603050405020304" pitchFamily="18" charset="0"/>
                <a:cs typeface="Times New Roman" panose="02020603050405020304" pitchFamily="18" charset="0"/>
              </a:rPr>
              <a:t>The rows having a null value in any columns are dropped from our dataset. </a:t>
            </a:r>
          </a:p>
          <a:p>
            <a:r>
              <a:rPr lang="en-IN" sz="1800" dirty="0">
                <a:latin typeface="Times New Roman" panose="02020603050405020304" pitchFamily="18" charset="0"/>
                <a:cs typeface="Times New Roman" panose="02020603050405020304" pitchFamily="18" charset="0"/>
              </a:rPr>
              <a:t>The columns having character as well as integer values are converted into integer values only. </a:t>
            </a:r>
          </a:p>
          <a:p>
            <a:r>
              <a:rPr lang="en-IN" sz="1800" dirty="0">
                <a:latin typeface="Times New Roman" panose="02020603050405020304" pitchFamily="18" charset="0"/>
                <a:cs typeface="Times New Roman" panose="02020603050405020304" pitchFamily="18" charset="0"/>
              </a:rPr>
              <a:t>Example: </a:t>
            </a: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Many more data cleaning techniques are used to improve the quality of our dataset. </a:t>
            </a:r>
          </a:p>
        </p:txBody>
      </p:sp>
      <p:grpSp>
        <p:nvGrpSpPr>
          <p:cNvPr id="13" name="Group 12">
            <a:extLst>
              <a:ext uri="{FF2B5EF4-FFF2-40B4-BE49-F238E27FC236}">
                <a16:creationId xmlns:a16="http://schemas.microsoft.com/office/drawing/2014/main" id="{FA66E082-84CE-7982-E10E-8C4E6D8DB561}"/>
              </a:ext>
            </a:extLst>
          </p:cNvPr>
          <p:cNvGrpSpPr/>
          <p:nvPr/>
        </p:nvGrpSpPr>
        <p:grpSpPr>
          <a:xfrm>
            <a:off x="6258959" y="3007796"/>
            <a:ext cx="2771459" cy="2854184"/>
            <a:chOff x="3740333" y="3077156"/>
            <a:chExt cx="2771459" cy="2854184"/>
          </a:xfrm>
        </p:grpSpPr>
        <p:pic>
          <p:nvPicPr>
            <p:cNvPr id="5" name="Picture 4">
              <a:extLst>
                <a:ext uri="{FF2B5EF4-FFF2-40B4-BE49-F238E27FC236}">
                  <a16:creationId xmlns:a16="http://schemas.microsoft.com/office/drawing/2014/main" id="{E41334AE-AFC0-5960-0FCA-EE80AE69EA72}"/>
                </a:ext>
              </a:extLst>
            </p:cNvPr>
            <p:cNvPicPr>
              <a:picLocks noChangeAspect="1"/>
            </p:cNvPicPr>
            <p:nvPr/>
          </p:nvPicPr>
          <p:blipFill>
            <a:blip r:embed="rId2"/>
            <a:stretch>
              <a:fillRect/>
            </a:stretch>
          </p:blipFill>
          <p:spPr>
            <a:xfrm>
              <a:off x="3740333" y="3077156"/>
              <a:ext cx="552304" cy="2854184"/>
            </a:xfrm>
            <a:prstGeom prst="rect">
              <a:avLst/>
            </a:prstGeom>
          </p:spPr>
        </p:pic>
        <p:pic>
          <p:nvPicPr>
            <p:cNvPr id="9" name="Picture 8">
              <a:extLst>
                <a:ext uri="{FF2B5EF4-FFF2-40B4-BE49-F238E27FC236}">
                  <a16:creationId xmlns:a16="http://schemas.microsoft.com/office/drawing/2014/main" id="{C195271F-F179-C1CF-658F-4EC648CDD3AD}"/>
                </a:ext>
              </a:extLst>
            </p:cNvPr>
            <p:cNvPicPr>
              <a:picLocks noChangeAspect="1"/>
            </p:cNvPicPr>
            <p:nvPr/>
          </p:nvPicPr>
          <p:blipFill>
            <a:blip r:embed="rId3"/>
            <a:stretch>
              <a:fillRect/>
            </a:stretch>
          </p:blipFill>
          <p:spPr>
            <a:xfrm>
              <a:off x="6016423" y="3475404"/>
              <a:ext cx="495369" cy="2057687"/>
            </a:xfrm>
            <a:prstGeom prst="rect">
              <a:avLst/>
            </a:prstGeom>
          </p:spPr>
        </p:pic>
        <p:sp>
          <p:nvSpPr>
            <p:cNvPr id="10" name="Arrow: Right 9">
              <a:extLst>
                <a:ext uri="{FF2B5EF4-FFF2-40B4-BE49-F238E27FC236}">
                  <a16:creationId xmlns:a16="http://schemas.microsoft.com/office/drawing/2014/main" id="{5D70379A-99CB-56E7-9835-7F1678965E36}"/>
                </a:ext>
              </a:extLst>
            </p:cNvPr>
            <p:cNvSpPr/>
            <p:nvPr/>
          </p:nvSpPr>
          <p:spPr>
            <a:xfrm>
              <a:off x="4389976" y="4428048"/>
              <a:ext cx="1432974" cy="152400"/>
            </a:xfrm>
            <a:prstGeom prst="righ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2" name="Rectangle 2">
            <a:extLst>
              <a:ext uri="{FF2B5EF4-FFF2-40B4-BE49-F238E27FC236}">
                <a16:creationId xmlns:a16="http://schemas.microsoft.com/office/drawing/2014/main" id="{87F281F6-19A2-A61E-7FBB-C8593D2AB765}"/>
              </a:ext>
            </a:extLst>
          </p:cNvPr>
          <p:cNvSpPr>
            <a:spLocks noChangeArrowheads="1"/>
          </p:cNvSpPr>
          <p:nvPr/>
        </p:nvSpPr>
        <p:spPr bwMode="auto">
          <a:xfrm>
            <a:off x="1446521" y="2985494"/>
            <a:ext cx="419255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BHK" → extracted numerical value 2</a:t>
            </a:r>
          </a:p>
          <a:p>
            <a:pPr lvl="0" eaLnBrk="0" fontAlgn="base" hangingPunct="0">
              <a:spcBef>
                <a:spcPct val="0"/>
              </a:spcBef>
              <a:spcAft>
                <a:spcPct val="0"/>
              </a:spcAft>
            </a:pPr>
            <a:r>
              <a:rPr lang="en-US" altLang="en-US" sz="1600" i="1" dirty="0">
                <a:latin typeface="Times New Roman" panose="02020603050405020304" pitchFamily="18" charset="0"/>
                <a:cs typeface="Times New Roman" panose="02020603050405020304" pitchFamily="18" charset="0"/>
              </a:rPr>
              <a:t>"1000 </a:t>
            </a:r>
            <a:r>
              <a:rPr lang="en-US" altLang="en-US" sz="1600" i="1" dirty="0" err="1">
                <a:latin typeface="Times New Roman" panose="02020603050405020304" pitchFamily="18" charset="0"/>
                <a:cs typeface="Times New Roman" panose="02020603050405020304" pitchFamily="18" charset="0"/>
              </a:rPr>
              <a:t>sqft</a:t>
            </a:r>
            <a:r>
              <a:rPr lang="en-US" altLang="en-US" sz="1600" i="1" dirty="0">
                <a:latin typeface="Times New Roman" panose="02020603050405020304" pitchFamily="18" charset="0"/>
                <a:cs typeface="Times New Roman" panose="02020603050405020304" pitchFamily="18" charset="0"/>
              </a:rPr>
              <a:t>" → extracted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1000 as numerical area</a:t>
            </a:r>
            <a:endParaRPr lang="en-US" altLang="en-US" sz="16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4550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613510-A055-15F9-6AD2-4853AA3625FE}"/>
              </a:ext>
            </a:extLst>
          </p:cNvPr>
          <p:cNvSpPr>
            <a:spLocks noGrp="1"/>
          </p:cNvSpPr>
          <p:nvPr>
            <p:ph idx="1"/>
          </p:nvPr>
        </p:nvSpPr>
        <p:spPr>
          <a:xfrm>
            <a:off x="103148" y="1270000"/>
            <a:ext cx="11720551" cy="5510794"/>
          </a:xfrm>
        </p:spPr>
        <p:txBody>
          <a:bodyPr>
            <a:normAutofit/>
          </a:bodyPr>
          <a:lstStyle/>
          <a:p>
            <a:r>
              <a:rPr lang="en-US" sz="1800" dirty="0">
                <a:latin typeface="Times New Roman" panose="02020603050405020304" pitchFamily="18" charset="0"/>
                <a:cs typeface="Times New Roman" panose="02020603050405020304" pitchFamily="18" charset="0"/>
              </a:rPr>
              <a:t>Handling Missing Values- Used </a:t>
            </a:r>
            <a:r>
              <a:rPr lang="en-US" sz="1600" b="1" dirty="0" err="1">
                <a:latin typeface="Times New Roman" panose="02020603050405020304" pitchFamily="18" charset="0"/>
                <a:cs typeface="Times New Roman" panose="02020603050405020304" pitchFamily="18" charset="0"/>
              </a:rPr>
              <a:t>df.isnull</a:t>
            </a:r>
            <a:r>
              <a:rPr lang="en-US" sz="1600" b="1" dirty="0">
                <a:latin typeface="Times New Roman" panose="02020603050405020304" pitchFamily="18" charset="0"/>
                <a:cs typeface="Times New Roman" panose="02020603050405020304" pitchFamily="18" charset="0"/>
              </a:rPr>
              <a:t>().sum() </a:t>
            </a:r>
            <a:r>
              <a:rPr lang="en-US" sz="1800" dirty="0">
                <a:latin typeface="Times New Roman" panose="02020603050405020304" pitchFamily="18" charset="0"/>
                <a:cs typeface="Times New Roman" panose="02020603050405020304" pitchFamily="18" charset="0"/>
              </a:rPr>
              <a:t>to inspect missing data across all columns. Found missing entries in fields like Carpet Area, society, Super Area, balcony, and bathroom, Price (in rupees) and other columns too.</a:t>
            </a:r>
          </a:p>
          <a:p>
            <a:endParaRPr lang="en-IN" sz="15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214A59EA-8AC9-4AE8-7A7F-EA07EF98AD47}"/>
              </a:ext>
            </a:extLst>
          </p:cNvPr>
          <p:cNvSpPr>
            <a:spLocks noGrp="1"/>
          </p:cNvSpPr>
          <p:nvPr>
            <p:ph type="title"/>
          </p:nvPr>
        </p:nvSpPr>
        <p:spPr>
          <a:xfrm>
            <a:off x="44450" y="77206"/>
            <a:ext cx="10515600" cy="963052"/>
          </a:xfrm>
        </p:spPr>
        <p:txBody>
          <a:bodyPr/>
          <a:lstStyle/>
          <a:p>
            <a:r>
              <a:rPr lang="en-IN" b="1" dirty="0">
                <a:latin typeface="Times New Roman" panose="02020603050405020304" pitchFamily="18" charset="0"/>
                <a:cs typeface="Times New Roman" panose="02020603050405020304" pitchFamily="18" charset="0"/>
              </a:rPr>
              <a:t>Data Cleaning and Pre-processing </a:t>
            </a:r>
          </a:p>
        </p:txBody>
      </p:sp>
      <p:grpSp>
        <p:nvGrpSpPr>
          <p:cNvPr id="18" name="Group 17">
            <a:extLst>
              <a:ext uri="{FF2B5EF4-FFF2-40B4-BE49-F238E27FC236}">
                <a16:creationId xmlns:a16="http://schemas.microsoft.com/office/drawing/2014/main" id="{8317CC21-8AEA-328D-83F2-B20F54ED4F4F}"/>
              </a:ext>
            </a:extLst>
          </p:cNvPr>
          <p:cNvGrpSpPr/>
          <p:nvPr/>
        </p:nvGrpSpPr>
        <p:grpSpPr>
          <a:xfrm>
            <a:off x="100726" y="2106562"/>
            <a:ext cx="11990547" cy="3576339"/>
            <a:chOff x="100726" y="2106562"/>
            <a:chExt cx="11990547" cy="3576339"/>
          </a:xfrm>
        </p:grpSpPr>
        <p:pic>
          <p:nvPicPr>
            <p:cNvPr id="6" name="Picture 5">
              <a:extLst>
                <a:ext uri="{FF2B5EF4-FFF2-40B4-BE49-F238E27FC236}">
                  <a16:creationId xmlns:a16="http://schemas.microsoft.com/office/drawing/2014/main" id="{5BA89C33-E4C1-D7FC-64D8-67E2351E3B30}"/>
                </a:ext>
              </a:extLst>
            </p:cNvPr>
            <p:cNvPicPr>
              <a:picLocks noChangeAspect="1"/>
            </p:cNvPicPr>
            <p:nvPr/>
          </p:nvPicPr>
          <p:blipFill>
            <a:blip r:embed="rId2"/>
            <a:stretch>
              <a:fillRect/>
            </a:stretch>
          </p:blipFill>
          <p:spPr>
            <a:xfrm>
              <a:off x="100726" y="2118589"/>
              <a:ext cx="2282928" cy="3356634"/>
            </a:xfrm>
            <a:prstGeom prst="rect">
              <a:avLst/>
            </a:prstGeom>
          </p:spPr>
        </p:pic>
        <p:grpSp>
          <p:nvGrpSpPr>
            <p:cNvPr id="15" name="Group 14">
              <a:extLst>
                <a:ext uri="{FF2B5EF4-FFF2-40B4-BE49-F238E27FC236}">
                  <a16:creationId xmlns:a16="http://schemas.microsoft.com/office/drawing/2014/main" id="{F8551B06-659C-FA30-5E6E-8CDA552AAE59}"/>
                </a:ext>
              </a:extLst>
            </p:cNvPr>
            <p:cNvGrpSpPr/>
            <p:nvPr/>
          </p:nvGrpSpPr>
          <p:grpSpPr>
            <a:xfrm>
              <a:off x="2984456" y="2238785"/>
              <a:ext cx="6223088" cy="3005042"/>
              <a:chOff x="4746472" y="1955049"/>
              <a:chExt cx="6223088" cy="3005042"/>
            </a:xfrm>
          </p:grpSpPr>
          <p:pic>
            <p:nvPicPr>
              <p:cNvPr id="10" name="Picture 9">
                <a:extLst>
                  <a:ext uri="{FF2B5EF4-FFF2-40B4-BE49-F238E27FC236}">
                    <a16:creationId xmlns:a16="http://schemas.microsoft.com/office/drawing/2014/main" id="{1883E98E-2B77-FA2C-093B-E39B83912E9F}"/>
                  </a:ext>
                </a:extLst>
              </p:cNvPr>
              <p:cNvPicPr>
                <a:picLocks noChangeAspect="1"/>
              </p:cNvPicPr>
              <p:nvPr/>
            </p:nvPicPr>
            <p:blipFill>
              <a:blip r:embed="rId3"/>
              <a:stretch>
                <a:fillRect/>
              </a:stretch>
            </p:blipFill>
            <p:spPr>
              <a:xfrm>
                <a:off x="4777446" y="1955049"/>
                <a:ext cx="6192114" cy="1495634"/>
              </a:xfrm>
              <a:prstGeom prst="rect">
                <a:avLst/>
              </a:prstGeom>
            </p:spPr>
          </p:pic>
          <p:pic>
            <p:nvPicPr>
              <p:cNvPr id="12" name="Picture 11">
                <a:extLst>
                  <a:ext uri="{FF2B5EF4-FFF2-40B4-BE49-F238E27FC236}">
                    <a16:creationId xmlns:a16="http://schemas.microsoft.com/office/drawing/2014/main" id="{7B4209B5-93AA-4832-BC7D-536322BACA01}"/>
                  </a:ext>
                </a:extLst>
              </p:cNvPr>
              <p:cNvPicPr>
                <a:picLocks noChangeAspect="1"/>
              </p:cNvPicPr>
              <p:nvPr/>
            </p:nvPicPr>
            <p:blipFill>
              <a:blip r:embed="rId4"/>
              <a:stretch>
                <a:fillRect/>
              </a:stretch>
            </p:blipFill>
            <p:spPr>
              <a:xfrm>
                <a:off x="4746472" y="4531406"/>
                <a:ext cx="6178483" cy="428685"/>
              </a:xfrm>
              <a:prstGeom prst="rect">
                <a:avLst/>
              </a:prstGeom>
            </p:spPr>
          </p:pic>
          <p:pic>
            <p:nvPicPr>
              <p:cNvPr id="14" name="Picture 13">
                <a:extLst>
                  <a:ext uri="{FF2B5EF4-FFF2-40B4-BE49-F238E27FC236}">
                    <a16:creationId xmlns:a16="http://schemas.microsoft.com/office/drawing/2014/main" id="{9885C17B-2ED0-804A-600D-672E125CD08E}"/>
                  </a:ext>
                </a:extLst>
              </p:cNvPr>
              <p:cNvPicPr>
                <a:picLocks noChangeAspect="1"/>
              </p:cNvPicPr>
              <p:nvPr/>
            </p:nvPicPr>
            <p:blipFill>
              <a:blip r:embed="rId5"/>
              <a:stretch>
                <a:fillRect/>
              </a:stretch>
            </p:blipFill>
            <p:spPr>
              <a:xfrm>
                <a:off x="4768775" y="3450683"/>
                <a:ext cx="6192114" cy="1076475"/>
              </a:xfrm>
              <a:prstGeom prst="rect">
                <a:avLst/>
              </a:prstGeom>
            </p:spPr>
          </p:pic>
        </p:grpSp>
        <p:pic>
          <p:nvPicPr>
            <p:cNvPr id="17" name="Picture 16">
              <a:extLst>
                <a:ext uri="{FF2B5EF4-FFF2-40B4-BE49-F238E27FC236}">
                  <a16:creationId xmlns:a16="http://schemas.microsoft.com/office/drawing/2014/main" id="{E9BEF46F-62A1-51F8-D06B-F8D21FAB1F53}"/>
                </a:ext>
              </a:extLst>
            </p:cNvPr>
            <p:cNvPicPr>
              <a:picLocks noChangeAspect="1"/>
            </p:cNvPicPr>
            <p:nvPr/>
          </p:nvPicPr>
          <p:blipFill>
            <a:blip r:embed="rId6"/>
            <a:stretch>
              <a:fillRect/>
            </a:stretch>
          </p:blipFill>
          <p:spPr>
            <a:xfrm>
              <a:off x="10074708" y="2106562"/>
              <a:ext cx="2016565" cy="3576339"/>
            </a:xfrm>
            <a:prstGeom prst="rect">
              <a:avLst/>
            </a:prstGeom>
          </p:spPr>
        </p:pic>
      </p:grpSp>
      <p:sp>
        <p:nvSpPr>
          <p:cNvPr id="19" name="Arrow: Right 18">
            <a:extLst>
              <a:ext uri="{FF2B5EF4-FFF2-40B4-BE49-F238E27FC236}">
                <a16:creationId xmlns:a16="http://schemas.microsoft.com/office/drawing/2014/main" id="{795E79F2-698E-811D-9A62-9D0607C19D48}"/>
              </a:ext>
            </a:extLst>
          </p:cNvPr>
          <p:cNvSpPr/>
          <p:nvPr/>
        </p:nvSpPr>
        <p:spPr>
          <a:xfrm>
            <a:off x="2330605" y="3512634"/>
            <a:ext cx="624468" cy="223025"/>
          </a:xfrm>
          <a:prstGeom prst="righ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Arrow: Right 19">
            <a:extLst>
              <a:ext uri="{FF2B5EF4-FFF2-40B4-BE49-F238E27FC236}">
                <a16:creationId xmlns:a16="http://schemas.microsoft.com/office/drawing/2014/main" id="{4B7901EE-EA1D-FAC0-0BE4-9C397FA36359}"/>
              </a:ext>
            </a:extLst>
          </p:cNvPr>
          <p:cNvSpPr/>
          <p:nvPr/>
        </p:nvSpPr>
        <p:spPr>
          <a:xfrm>
            <a:off x="9348670" y="3429000"/>
            <a:ext cx="624468" cy="223025"/>
          </a:xfrm>
          <a:prstGeom prst="righ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28657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9A3F90-B3A1-0858-9AB4-3ECC2D13647B}"/>
              </a:ext>
            </a:extLst>
          </p:cNvPr>
          <p:cNvSpPr>
            <a:spLocks noGrp="1"/>
          </p:cNvSpPr>
          <p:nvPr>
            <p:ph idx="1"/>
          </p:nvPr>
        </p:nvSpPr>
        <p:spPr>
          <a:xfrm>
            <a:off x="44450" y="1390728"/>
            <a:ext cx="12147550" cy="5043526"/>
          </a:xfrm>
        </p:spPr>
        <p:txBody>
          <a:bodyPr>
            <a:normAutofit/>
          </a:bodyPr>
          <a:lstStyle/>
          <a:p>
            <a:r>
              <a:rPr lang="en-US" sz="2400" dirty="0">
                <a:latin typeface="Times New Roman" panose="02020603050405020304" pitchFamily="18" charset="0"/>
                <a:cs typeface="Times New Roman" panose="02020603050405020304" pitchFamily="18" charset="0"/>
              </a:rPr>
              <a:t>Dropped rows with excessive missing values to maintain dataset quality.</a:t>
            </a:r>
          </a:p>
          <a:p>
            <a:endParaRPr lang="en-US"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Removed inconsistent entries- </a:t>
            </a:r>
            <a:r>
              <a:rPr lang="en-US" sz="2400" b="1" dirty="0" err="1">
                <a:latin typeface="Times New Roman" panose="02020603050405020304" pitchFamily="18" charset="0"/>
                <a:cs typeface="Times New Roman" panose="02020603050405020304" pitchFamily="18" charset="0"/>
              </a:rPr>
              <a:t>df</a:t>
            </a:r>
            <a:r>
              <a:rPr lang="en-US" sz="2400" b="1" dirty="0">
                <a:latin typeface="Times New Roman" panose="02020603050405020304" pitchFamily="18" charset="0"/>
                <a:cs typeface="Times New Roman" panose="02020603050405020304" pitchFamily="18" charset="0"/>
              </a:rPr>
              <a:t>[</a:t>
            </a:r>
            <a:r>
              <a:rPr lang="en-US" sz="2400" b="1" dirty="0" err="1">
                <a:latin typeface="Times New Roman" panose="02020603050405020304" pitchFamily="18" charset="0"/>
                <a:cs typeface="Times New Roman" panose="02020603050405020304" pitchFamily="18" charset="0"/>
              </a:rPr>
              <a:t>df</a:t>
            </a:r>
            <a:r>
              <a:rPr lang="en-US" sz="2400" b="1" dirty="0">
                <a:latin typeface="Times New Roman" panose="02020603050405020304" pitchFamily="18" charset="0"/>
                <a:cs typeface="Times New Roman" panose="02020603050405020304" pitchFamily="18" charset="0"/>
              </a:rPr>
              <a:t>['Amount(in rupees)'] != 'Call for Price’]</a:t>
            </a:r>
          </a:p>
          <a:p>
            <a:endParaRPr lang="en-US" sz="24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Processing ‘Price’ Columns (Very Important Step): Converting Lakhs and Crores to a common unit. Identified two currency units: Lakh (L) and Crore (Cr). Created a new normalized column </a:t>
            </a:r>
            <a:r>
              <a:rPr lang="en-US" sz="2400" dirty="0" err="1">
                <a:latin typeface="Times New Roman" panose="02020603050405020304" pitchFamily="18" charset="0"/>
                <a:cs typeface="Times New Roman" panose="02020603050405020304" pitchFamily="18" charset="0"/>
              </a:rPr>
              <a:t>Amount_in_Crore</a:t>
            </a:r>
            <a:r>
              <a:rPr lang="en-US" sz="2400" dirty="0">
                <a:latin typeface="Times New Roman" panose="02020603050405020304" pitchFamily="18" charset="0"/>
                <a:cs typeface="Times New Roman" panose="02020603050405020304" pitchFamily="18" charset="0"/>
              </a:rPr>
              <a:t>.</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b="1" dirty="0" err="1">
                <a:latin typeface="Times New Roman" panose="02020603050405020304" pitchFamily="18" charset="0"/>
                <a:cs typeface="Times New Roman" panose="02020603050405020304" pitchFamily="18" charset="0"/>
              </a:rPr>
              <a:t>df</a:t>
            </a:r>
            <a:r>
              <a:rPr lang="en-US" sz="2400" b="1" dirty="0">
                <a:latin typeface="Times New Roman" panose="02020603050405020304" pitchFamily="18" charset="0"/>
                <a:cs typeface="Times New Roman" panose="02020603050405020304" pitchFamily="18" charset="0"/>
              </a:rPr>
              <a:t>['</a:t>
            </a:r>
            <a:r>
              <a:rPr lang="en-US" sz="2400" b="1" dirty="0" err="1">
                <a:latin typeface="Times New Roman" panose="02020603050405020304" pitchFamily="18" charset="0"/>
                <a:cs typeface="Times New Roman" panose="02020603050405020304" pitchFamily="18" charset="0"/>
              </a:rPr>
              <a:t>Amount_in_Crore</a:t>
            </a:r>
            <a:r>
              <a:rPr lang="en-US" sz="2400" b="1" dirty="0">
                <a:latin typeface="Times New Roman" panose="02020603050405020304" pitchFamily="18" charset="0"/>
                <a:cs typeface="Times New Roman" panose="02020603050405020304" pitchFamily="18" charset="0"/>
              </a:rPr>
              <a:t>'] = </a:t>
            </a:r>
            <a:r>
              <a:rPr lang="en-US" sz="2400" b="1" dirty="0" err="1">
                <a:latin typeface="Times New Roman" panose="02020603050405020304" pitchFamily="18" charset="0"/>
                <a:cs typeface="Times New Roman" panose="02020603050405020304" pitchFamily="18" charset="0"/>
              </a:rPr>
              <a:t>df.apply</a:t>
            </a:r>
            <a:r>
              <a:rPr lang="en-US" sz="2400" b="1" dirty="0">
                <a:latin typeface="Times New Roman" panose="02020603050405020304" pitchFamily="18" charset="0"/>
                <a:cs typeface="Times New Roman" panose="02020603050405020304" pitchFamily="18" charset="0"/>
              </a:rPr>
              <a:t>(lambda x: x['Value'] if ['Currency'] == 'Cr' else x['Value'] / 100, axis = 1)</a:t>
            </a:r>
          </a:p>
          <a:p>
            <a:endParaRPr lang="en-IN" sz="2400" dirty="0"/>
          </a:p>
        </p:txBody>
      </p:sp>
      <p:sp>
        <p:nvSpPr>
          <p:cNvPr id="6" name="Title 1">
            <a:extLst>
              <a:ext uri="{FF2B5EF4-FFF2-40B4-BE49-F238E27FC236}">
                <a16:creationId xmlns:a16="http://schemas.microsoft.com/office/drawing/2014/main" id="{53C1B9B7-6273-E6B1-C389-CB6A3BF79B5F}"/>
              </a:ext>
            </a:extLst>
          </p:cNvPr>
          <p:cNvSpPr txBox="1">
            <a:spLocks/>
          </p:cNvSpPr>
          <p:nvPr/>
        </p:nvSpPr>
        <p:spPr>
          <a:xfrm>
            <a:off x="44450" y="77206"/>
            <a:ext cx="10515600" cy="9630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dirty="0">
                <a:latin typeface="Times New Roman" panose="02020603050405020304" pitchFamily="18" charset="0"/>
                <a:cs typeface="Times New Roman" panose="02020603050405020304" pitchFamily="18" charset="0"/>
              </a:rPr>
              <a:t>Data Cleaning and Pre-processing </a:t>
            </a:r>
          </a:p>
        </p:txBody>
      </p:sp>
    </p:spTree>
    <p:extLst>
      <p:ext uri="{BB962C8B-B14F-4D97-AF65-F5344CB8AC3E}">
        <p14:creationId xmlns:p14="http://schemas.microsoft.com/office/powerpoint/2010/main" val="17861644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E3C26-5FB8-19D7-A988-F569DA1ADEE7}"/>
              </a:ext>
            </a:extLst>
          </p:cNvPr>
          <p:cNvSpPr>
            <a:spLocks noGrp="1"/>
          </p:cNvSpPr>
          <p:nvPr>
            <p:ph type="title"/>
          </p:nvPr>
        </p:nvSpPr>
        <p:spPr>
          <a:xfrm>
            <a:off x="0" y="0"/>
            <a:ext cx="12192000" cy="709381"/>
          </a:xfrm>
        </p:spPr>
        <p:txBody>
          <a:bodyPr>
            <a:normAutofit/>
          </a:bodyPr>
          <a:lstStyle/>
          <a:p>
            <a:r>
              <a:rPr lang="en-IN" sz="3900" b="1" dirty="0">
                <a:latin typeface="Times New Roman" panose="02020603050405020304" pitchFamily="18" charset="0"/>
                <a:cs typeface="Times New Roman" panose="02020603050405020304" pitchFamily="18" charset="0"/>
              </a:rPr>
              <a:t>Data Visualization and EDA (Exploratory data Analysis)</a:t>
            </a:r>
          </a:p>
        </p:txBody>
      </p:sp>
      <p:sp>
        <p:nvSpPr>
          <p:cNvPr id="4" name="Rectangle 1">
            <a:extLst>
              <a:ext uri="{FF2B5EF4-FFF2-40B4-BE49-F238E27FC236}">
                <a16:creationId xmlns:a16="http://schemas.microsoft.com/office/drawing/2014/main" id="{9D312BAE-0177-D6B5-C53D-171CFD1196A1}"/>
              </a:ext>
            </a:extLst>
          </p:cNvPr>
          <p:cNvSpPr>
            <a:spLocks noGrp="1" noChangeArrowheads="1"/>
          </p:cNvSpPr>
          <p:nvPr>
            <p:ph idx="1"/>
          </p:nvPr>
        </p:nvSpPr>
        <p:spPr bwMode="auto">
          <a:xfrm>
            <a:off x="209085" y="1066210"/>
            <a:ext cx="11773829" cy="4457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Exploratory Data Analysis (EDA) helps us understand the data before building any model.</a:t>
            </a:r>
          </a:p>
          <a:p>
            <a:pPr marR="0" lvl="0" algn="l"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includes visualizing patterns, trends, correlations, and identifying outliers or unusual values.</a:t>
            </a:r>
          </a:p>
          <a:p>
            <a:pPr marR="0" lvl="0" algn="l"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EDA allows us to see which features influence house prices the most (location, size, bathrooms, etc.).</a:t>
            </a:r>
          </a:p>
          <a:p>
            <a:pPr marR="0" lvl="0" algn="l"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 charts like histograms, box plots, pair plots, and correlation heatmaps make it easier to interpret relationships in the dataset.</a:t>
            </a:r>
            <a:endParaRPr lang="en-US" altLang="en-US" sz="24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9219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2FB3F-D2DC-899B-F4D4-FD3754653C7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3F0C37B-B772-8FA1-BAC9-4C5CBC97D411}"/>
              </a:ext>
            </a:extLst>
          </p:cNvPr>
          <p:cNvSpPr>
            <a:spLocks noGrp="1"/>
          </p:cNvSpPr>
          <p:nvPr>
            <p:ph idx="1"/>
          </p:nvPr>
        </p:nvSpPr>
        <p:spPr/>
        <p:txBody>
          <a:bodyPr/>
          <a:lstStyle/>
          <a:p>
            <a:pPr marL="0" indent="0" algn="ctr">
              <a:buNone/>
            </a:pPr>
            <a:r>
              <a:rPr lang="en-US" altLang="en-US" dirty="0">
                <a:latin typeface="Times New Roman" panose="02020603050405020304" pitchFamily="18" charset="0"/>
                <a:cs typeface="Times New Roman" panose="02020603050405020304" pitchFamily="18" charset="0"/>
              </a:rPr>
              <a:t>In the next few slides, I will show some of the important plots and relationships among data.</a:t>
            </a:r>
          </a:p>
          <a:p>
            <a:endParaRPr lang="en-IN" dirty="0"/>
          </a:p>
        </p:txBody>
      </p:sp>
    </p:spTree>
    <p:extLst>
      <p:ext uri="{BB962C8B-B14F-4D97-AF65-F5344CB8AC3E}">
        <p14:creationId xmlns:p14="http://schemas.microsoft.com/office/powerpoint/2010/main" val="13385479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797E7-EC10-91B2-2912-01B626F3A0C7}"/>
              </a:ext>
            </a:extLst>
          </p:cNvPr>
          <p:cNvSpPr>
            <a:spLocks noGrp="1"/>
          </p:cNvSpPr>
          <p:nvPr>
            <p:ph type="title"/>
          </p:nvPr>
        </p:nvSpPr>
        <p:spPr>
          <a:xfrm>
            <a:off x="314092" y="0"/>
            <a:ext cx="6891454" cy="894158"/>
          </a:xfrm>
        </p:spPr>
        <p:txBody>
          <a:bodyPr>
            <a:normAutofit/>
          </a:bodyPr>
          <a:lstStyle/>
          <a:p>
            <a:r>
              <a:rPr lang="en-IN" sz="4000" b="1" dirty="0">
                <a:latin typeface="Times New Roman" panose="02020603050405020304" pitchFamily="18" charset="0"/>
                <a:cs typeface="Times New Roman" panose="02020603050405020304" pitchFamily="18" charset="0"/>
              </a:rPr>
              <a:t>Data Visualization</a:t>
            </a:r>
            <a:endParaRPr lang="en-IN" sz="4000" b="1" dirty="0">
              <a:solidFill>
                <a:schemeClr val="accent2"/>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FE3F75D-5983-4937-7B6C-DCF1FC7FFE0D}"/>
              </a:ext>
            </a:extLst>
          </p:cNvPr>
          <p:cNvSpPr>
            <a:spLocks noGrp="1"/>
          </p:cNvSpPr>
          <p:nvPr>
            <p:ph idx="1"/>
          </p:nvPr>
        </p:nvSpPr>
        <p:spPr>
          <a:xfrm>
            <a:off x="314092" y="1105419"/>
            <a:ext cx="10515600" cy="4351338"/>
          </a:xfrm>
        </p:spPr>
        <p:txBody>
          <a:bodyPr/>
          <a:lstStyle/>
          <a:p>
            <a:pPr marL="0" indent="0">
              <a:buNone/>
            </a:pPr>
            <a:r>
              <a:rPr lang="en-IN" dirty="0">
                <a:solidFill>
                  <a:schemeClr val="accent2"/>
                </a:solidFill>
                <a:latin typeface="Times New Roman" panose="02020603050405020304" pitchFamily="18" charset="0"/>
                <a:cs typeface="Times New Roman" panose="02020603050405020304" pitchFamily="18" charset="0"/>
              </a:rPr>
              <a:t>Histogram of Target feature-right skewed</a:t>
            </a:r>
            <a:endParaRPr lang="en-IN" dirty="0"/>
          </a:p>
        </p:txBody>
      </p:sp>
      <p:pic>
        <p:nvPicPr>
          <p:cNvPr id="5" name="Picture 4">
            <a:extLst>
              <a:ext uri="{FF2B5EF4-FFF2-40B4-BE49-F238E27FC236}">
                <a16:creationId xmlns:a16="http://schemas.microsoft.com/office/drawing/2014/main" id="{521FC225-2AAB-8A35-2CF5-62E0A97D1F56}"/>
              </a:ext>
            </a:extLst>
          </p:cNvPr>
          <p:cNvPicPr>
            <a:picLocks noChangeAspect="1"/>
          </p:cNvPicPr>
          <p:nvPr/>
        </p:nvPicPr>
        <p:blipFill>
          <a:blip r:embed="rId2"/>
          <a:stretch>
            <a:fillRect/>
          </a:stretch>
        </p:blipFill>
        <p:spPr>
          <a:xfrm>
            <a:off x="2311132" y="1713477"/>
            <a:ext cx="7725853" cy="4820323"/>
          </a:xfrm>
          <a:prstGeom prst="rect">
            <a:avLst/>
          </a:prstGeom>
        </p:spPr>
      </p:pic>
    </p:spTree>
    <p:extLst>
      <p:ext uri="{BB962C8B-B14F-4D97-AF65-F5344CB8AC3E}">
        <p14:creationId xmlns:p14="http://schemas.microsoft.com/office/powerpoint/2010/main" val="39511289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0E31A7-CAF9-18A3-101E-FCDF88158D44}"/>
              </a:ext>
            </a:extLst>
          </p:cNvPr>
          <p:cNvSpPr>
            <a:spLocks noGrp="1"/>
          </p:cNvSpPr>
          <p:nvPr>
            <p:ph idx="1"/>
          </p:nvPr>
        </p:nvSpPr>
        <p:spPr>
          <a:xfrm>
            <a:off x="314092" y="896218"/>
            <a:ext cx="11563816" cy="4351338"/>
          </a:xfrm>
        </p:spPr>
        <p:txBody>
          <a:bodyPr>
            <a:normAutofit/>
          </a:bodyPr>
          <a:lstStyle/>
          <a:p>
            <a:pPr marL="0" indent="0">
              <a:buNone/>
            </a:pPr>
            <a:r>
              <a:rPr lang="en-US" sz="2400" dirty="0">
                <a:solidFill>
                  <a:schemeClr val="accent2"/>
                </a:solidFill>
                <a:latin typeface="Times New Roman" panose="02020603050405020304" pitchFamily="18" charset="0"/>
                <a:cs typeface="Times New Roman" panose="02020603050405020304" pitchFamily="18" charset="0"/>
              </a:rPr>
              <a:t>Applied log transformation to the Price column to reduce right-skewness and achieve a more normalized and evenly distributed range of values</a:t>
            </a:r>
            <a:endParaRPr lang="en-IN" sz="2400" dirty="0">
              <a:solidFill>
                <a:schemeClr val="accent2"/>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0745711-98DD-A82A-4ED6-A40D394646E8}"/>
              </a:ext>
            </a:extLst>
          </p:cNvPr>
          <p:cNvPicPr>
            <a:picLocks noChangeAspect="1"/>
          </p:cNvPicPr>
          <p:nvPr/>
        </p:nvPicPr>
        <p:blipFill>
          <a:blip r:embed="rId2"/>
          <a:stretch>
            <a:fillRect/>
          </a:stretch>
        </p:blipFill>
        <p:spPr>
          <a:xfrm>
            <a:off x="2593051" y="1898603"/>
            <a:ext cx="7697274" cy="4829849"/>
          </a:xfrm>
          <a:prstGeom prst="rect">
            <a:avLst/>
          </a:prstGeom>
        </p:spPr>
      </p:pic>
      <p:sp>
        <p:nvSpPr>
          <p:cNvPr id="6" name="Title 1">
            <a:extLst>
              <a:ext uri="{FF2B5EF4-FFF2-40B4-BE49-F238E27FC236}">
                <a16:creationId xmlns:a16="http://schemas.microsoft.com/office/drawing/2014/main" id="{D457A8DA-D7EC-4D57-1C92-67D565853AB5}"/>
              </a:ext>
            </a:extLst>
          </p:cNvPr>
          <p:cNvSpPr txBox="1">
            <a:spLocks/>
          </p:cNvSpPr>
          <p:nvPr/>
        </p:nvSpPr>
        <p:spPr>
          <a:xfrm>
            <a:off x="314092" y="0"/>
            <a:ext cx="6891454" cy="8941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b="1" dirty="0">
                <a:latin typeface="Times New Roman" panose="02020603050405020304" pitchFamily="18" charset="0"/>
                <a:cs typeface="Times New Roman" panose="02020603050405020304" pitchFamily="18" charset="0"/>
              </a:rPr>
              <a:t>Data Visualization</a:t>
            </a:r>
            <a:endParaRPr lang="en-IN" sz="4000" b="1" dirty="0">
              <a:solidFill>
                <a:schemeClr val="accent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72269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4FB7022-230E-01A5-1980-F8341167DB41}"/>
              </a:ext>
            </a:extLst>
          </p:cNvPr>
          <p:cNvPicPr>
            <a:picLocks noChangeAspect="1"/>
          </p:cNvPicPr>
          <p:nvPr/>
        </p:nvPicPr>
        <p:blipFill>
          <a:blip r:embed="rId2"/>
          <a:stretch>
            <a:fillRect/>
          </a:stretch>
        </p:blipFill>
        <p:spPr>
          <a:xfrm>
            <a:off x="4304371" y="1171691"/>
            <a:ext cx="7708697" cy="5055398"/>
          </a:xfrm>
          <a:prstGeom prst="rect">
            <a:avLst/>
          </a:prstGeom>
        </p:spPr>
      </p:pic>
      <p:sp>
        <p:nvSpPr>
          <p:cNvPr id="8" name="Content Placeholder 2">
            <a:extLst>
              <a:ext uri="{FF2B5EF4-FFF2-40B4-BE49-F238E27FC236}">
                <a16:creationId xmlns:a16="http://schemas.microsoft.com/office/drawing/2014/main" id="{00CE2073-47C8-58FD-8177-9350BA8B2853}"/>
              </a:ext>
            </a:extLst>
          </p:cNvPr>
          <p:cNvSpPr txBox="1">
            <a:spLocks/>
          </p:cNvSpPr>
          <p:nvPr/>
        </p:nvSpPr>
        <p:spPr>
          <a:xfrm>
            <a:off x="0" y="1253331"/>
            <a:ext cx="430437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dirty="0">
                <a:solidFill>
                  <a:schemeClr val="accent2"/>
                </a:solidFill>
                <a:latin typeface="Times New Roman" panose="02020603050405020304" pitchFamily="18" charset="0"/>
                <a:cs typeface="Times New Roman" panose="02020603050405020304" pitchFamily="18" charset="0"/>
              </a:rPr>
              <a:t>Histogram of all numerical feature, showing the outliers present in data </a:t>
            </a:r>
          </a:p>
        </p:txBody>
      </p:sp>
      <p:sp>
        <p:nvSpPr>
          <p:cNvPr id="9" name="Title 1">
            <a:extLst>
              <a:ext uri="{FF2B5EF4-FFF2-40B4-BE49-F238E27FC236}">
                <a16:creationId xmlns:a16="http://schemas.microsoft.com/office/drawing/2014/main" id="{BD335BB3-1F9F-BE4A-1F71-E750D5A642CF}"/>
              </a:ext>
            </a:extLst>
          </p:cNvPr>
          <p:cNvSpPr txBox="1">
            <a:spLocks/>
          </p:cNvSpPr>
          <p:nvPr/>
        </p:nvSpPr>
        <p:spPr>
          <a:xfrm>
            <a:off x="79916" y="0"/>
            <a:ext cx="8729547" cy="8941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b="1" dirty="0">
                <a:latin typeface="Times New Roman" panose="02020603050405020304" pitchFamily="18" charset="0"/>
                <a:cs typeface="Times New Roman" panose="02020603050405020304" pitchFamily="18" charset="0"/>
              </a:rPr>
              <a:t>Data Visualization (Outlier Detection)</a:t>
            </a:r>
            <a:endParaRPr lang="en-IN" sz="4000" b="1" dirty="0">
              <a:solidFill>
                <a:schemeClr val="accent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6624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76451FD-6E7C-B5E0-539C-D312835C9356}"/>
              </a:ext>
            </a:extLst>
          </p:cNvPr>
          <p:cNvPicPr>
            <a:picLocks noChangeAspect="1"/>
          </p:cNvPicPr>
          <p:nvPr/>
        </p:nvPicPr>
        <p:blipFill>
          <a:blip r:embed="rId2"/>
          <a:stretch>
            <a:fillRect/>
          </a:stretch>
        </p:blipFill>
        <p:spPr>
          <a:xfrm>
            <a:off x="4042543" y="979472"/>
            <a:ext cx="8149457" cy="5509724"/>
          </a:xfrm>
          <a:prstGeom prst="rect">
            <a:avLst/>
          </a:prstGeom>
        </p:spPr>
      </p:pic>
      <p:sp>
        <p:nvSpPr>
          <p:cNvPr id="8" name="Title 1">
            <a:extLst>
              <a:ext uri="{FF2B5EF4-FFF2-40B4-BE49-F238E27FC236}">
                <a16:creationId xmlns:a16="http://schemas.microsoft.com/office/drawing/2014/main" id="{59599105-F752-BCF0-5C2C-3CAD74D3EA96}"/>
              </a:ext>
            </a:extLst>
          </p:cNvPr>
          <p:cNvSpPr txBox="1">
            <a:spLocks/>
          </p:cNvSpPr>
          <p:nvPr/>
        </p:nvSpPr>
        <p:spPr>
          <a:xfrm>
            <a:off x="0" y="-81954"/>
            <a:ext cx="8597590" cy="8941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b="1" dirty="0">
                <a:latin typeface="Times New Roman" panose="02020603050405020304" pitchFamily="18" charset="0"/>
                <a:cs typeface="Times New Roman" panose="02020603050405020304" pitchFamily="18" charset="0"/>
              </a:rPr>
              <a:t>Data Visualization (Outlier Removal)</a:t>
            </a:r>
            <a:endParaRPr lang="en-IN" sz="4000" b="1" dirty="0">
              <a:solidFill>
                <a:schemeClr val="accent2"/>
              </a:solidFill>
              <a:latin typeface="Times New Roman" panose="02020603050405020304" pitchFamily="18" charset="0"/>
              <a:cs typeface="Times New Roman" panose="02020603050405020304" pitchFamily="18" charset="0"/>
            </a:endParaRPr>
          </a:p>
        </p:txBody>
      </p:sp>
      <p:sp>
        <p:nvSpPr>
          <p:cNvPr id="11" name="Content Placeholder 2">
            <a:extLst>
              <a:ext uri="{FF2B5EF4-FFF2-40B4-BE49-F238E27FC236}">
                <a16:creationId xmlns:a16="http://schemas.microsoft.com/office/drawing/2014/main" id="{DB501494-900A-C8D3-3E1B-4A7EEAB8192A}"/>
              </a:ext>
            </a:extLst>
          </p:cNvPr>
          <p:cNvSpPr txBox="1">
            <a:spLocks/>
          </p:cNvSpPr>
          <p:nvPr/>
        </p:nvSpPr>
        <p:spPr>
          <a:xfrm>
            <a:off x="0" y="1253331"/>
            <a:ext cx="421516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chemeClr val="accent2"/>
                </a:solidFill>
                <a:latin typeface="Times New Roman" panose="02020603050405020304" pitchFamily="18" charset="0"/>
                <a:cs typeface="Times New Roman" panose="02020603050405020304" pitchFamily="18" charset="0"/>
              </a:rPr>
              <a:t>Histogram after removing outliers identified through careful examination of the distribution and feature behavior</a:t>
            </a:r>
            <a:endParaRPr lang="en-IN" sz="2400" dirty="0">
              <a:solidFill>
                <a:schemeClr val="accent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01497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764FFE-86FA-1986-F71F-482A9E535B15}"/>
              </a:ext>
            </a:extLst>
          </p:cNvPr>
          <p:cNvSpPr>
            <a:spLocks noGrp="1"/>
          </p:cNvSpPr>
          <p:nvPr>
            <p:ph idx="1"/>
          </p:nvPr>
        </p:nvSpPr>
        <p:spPr/>
        <p:txBody>
          <a:bodyPr/>
          <a:lstStyle/>
          <a:p>
            <a:endParaRPr lang="en-IN"/>
          </a:p>
        </p:txBody>
      </p:sp>
      <p:grpSp>
        <p:nvGrpSpPr>
          <p:cNvPr id="9" name="Group 8">
            <a:extLst>
              <a:ext uri="{FF2B5EF4-FFF2-40B4-BE49-F238E27FC236}">
                <a16:creationId xmlns:a16="http://schemas.microsoft.com/office/drawing/2014/main" id="{29DC0FE2-92F5-DAF7-4A19-F5BE4CF53C61}"/>
              </a:ext>
            </a:extLst>
          </p:cNvPr>
          <p:cNvGrpSpPr/>
          <p:nvPr/>
        </p:nvGrpSpPr>
        <p:grpSpPr>
          <a:xfrm>
            <a:off x="0" y="1"/>
            <a:ext cx="11974544" cy="6858000"/>
            <a:chOff x="22302" y="-401359"/>
            <a:chExt cx="11874186" cy="6903391"/>
          </a:xfrm>
        </p:grpSpPr>
        <p:pic>
          <p:nvPicPr>
            <p:cNvPr id="5" name="Picture 4">
              <a:extLst>
                <a:ext uri="{FF2B5EF4-FFF2-40B4-BE49-F238E27FC236}">
                  <a16:creationId xmlns:a16="http://schemas.microsoft.com/office/drawing/2014/main" id="{564E31F8-6A66-6DCD-54A0-3EC40309EAC4}"/>
                </a:ext>
              </a:extLst>
            </p:cNvPr>
            <p:cNvPicPr>
              <a:picLocks noChangeAspect="1"/>
            </p:cNvPicPr>
            <p:nvPr/>
          </p:nvPicPr>
          <p:blipFill>
            <a:blip r:embed="rId2"/>
            <a:srcRect l="2954"/>
            <a:stretch>
              <a:fillRect/>
            </a:stretch>
          </p:blipFill>
          <p:spPr>
            <a:xfrm>
              <a:off x="156118" y="1339817"/>
              <a:ext cx="5644460" cy="5162215"/>
            </a:xfrm>
            <a:prstGeom prst="rect">
              <a:avLst/>
            </a:prstGeom>
          </p:spPr>
        </p:pic>
        <p:pic>
          <p:nvPicPr>
            <p:cNvPr id="7" name="Picture 6">
              <a:extLst>
                <a:ext uri="{FF2B5EF4-FFF2-40B4-BE49-F238E27FC236}">
                  <a16:creationId xmlns:a16="http://schemas.microsoft.com/office/drawing/2014/main" id="{B7CE5DB0-22E4-FC0E-02CF-2083160EADAA}"/>
                </a:ext>
              </a:extLst>
            </p:cNvPr>
            <p:cNvPicPr>
              <a:picLocks noChangeAspect="1"/>
            </p:cNvPicPr>
            <p:nvPr/>
          </p:nvPicPr>
          <p:blipFill>
            <a:blip r:embed="rId3"/>
            <a:srcRect l="3708" r="6041"/>
            <a:stretch>
              <a:fillRect/>
            </a:stretch>
          </p:blipFill>
          <p:spPr>
            <a:xfrm>
              <a:off x="5962187" y="1367028"/>
              <a:ext cx="5934301" cy="4887992"/>
            </a:xfrm>
            <a:prstGeom prst="rect">
              <a:avLst/>
            </a:prstGeom>
          </p:spPr>
        </p:pic>
        <p:sp>
          <p:nvSpPr>
            <p:cNvPr id="8" name="Title 1">
              <a:extLst>
                <a:ext uri="{FF2B5EF4-FFF2-40B4-BE49-F238E27FC236}">
                  <a16:creationId xmlns:a16="http://schemas.microsoft.com/office/drawing/2014/main" id="{ABEC8A89-37EE-1B3F-9972-FFA8AAD9BF3E}"/>
                </a:ext>
              </a:extLst>
            </p:cNvPr>
            <p:cNvSpPr txBox="1">
              <a:spLocks/>
            </p:cNvSpPr>
            <p:nvPr/>
          </p:nvSpPr>
          <p:spPr>
            <a:xfrm>
              <a:off x="22302" y="-401359"/>
              <a:ext cx="6891454" cy="8941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b="1" dirty="0">
                  <a:latin typeface="Times New Roman" panose="02020603050405020304" pitchFamily="18" charset="0"/>
                  <a:cs typeface="Times New Roman" panose="02020603050405020304" pitchFamily="18" charset="0"/>
                </a:rPr>
                <a:t>Data Visualization</a:t>
              </a:r>
              <a:endParaRPr lang="en-IN" sz="4000" b="1" dirty="0">
                <a:solidFill>
                  <a:schemeClr val="accent2"/>
                </a:solidFill>
                <a:latin typeface="Times New Roman" panose="02020603050405020304" pitchFamily="18" charset="0"/>
                <a:cs typeface="Times New Roman" panose="02020603050405020304" pitchFamily="18" charset="0"/>
              </a:endParaRPr>
            </a:p>
          </p:txBody>
        </p:sp>
      </p:grpSp>
      <p:pic>
        <p:nvPicPr>
          <p:cNvPr id="11" name="Picture 10">
            <a:extLst>
              <a:ext uri="{FF2B5EF4-FFF2-40B4-BE49-F238E27FC236}">
                <a16:creationId xmlns:a16="http://schemas.microsoft.com/office/drawing/2014/main" id="{2CE5EF4B-DAC0-5107-801A-7994877D9FA4}"/>
              </a:ext>
            </a:extLst>
          </p:cNvPr>
          <p:cNvPicPr>
            <a:picLocks noChangeAspect="1"/>
          </p:cNvPicPr>
          <p:nvPr/>
        </p:nvPicPr>
        <p:blipFill>
          <a:blip r:embed="rId4"/>
          <a:stretch>
            <a:fillRect/>
          </a:stretch>
        </p:blipFill>
        <p:spPr>
          <a:xfrm>
            <a:off x="7326351" y="83628"/>
            <a:ext cx="4393580" cy="1653666"/>
          </a:xfrm>
          <a:prstGeom prst="rect">
            <a:avLst/>
          </a:prstGeom>
        </p:spPr>
      </p:pic>
      <p:sp>
        <p:nvSpPr>
          <p:cNvPr id="12" name="Content Placeholder 2">
            <a:extLst>
              <a:ext uri="{FF2B5EF4-FFF2-40B4-BE49-F238E27FC236}">
                <a16:creationId xmlns:a16="http://schemas.microsoft.com/office/drawing/2014/main" id="{9E333D9E-130F-0203-32AE-50DB26821FAB}"/>
              </a:ext>
            </a:extLst>
          </p:cNvPr>
          <p:cNvSpPr txBox="1">
            <a:spLocks/>
          </p:cNvSpPr>
          <p:nvPr/>
        </p:nvSpPr>
        <p:spPr>
          <a:xfrm>
            <a:off x="0" y="769369"/>
            <a:ext cx="741556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chemeClr val="accent2"/>
                </a:solidFill>
                <a:latin typeface="Times New Roman" panose="02020603050405020304" pitchFamily="18" charset="0"/>
                <a:cs typeface="Times New Roman" panose="02020603050405020304" pitchFamily="18" charset="0"/>
              </a:rPr>
              <a:t>Correlation of Numerical columns with Price (in rupees):</a:t>
            </a:r>
            <a:endParaRPr lang="en-IN" sz="2400" dirty="0">
              <a:solidFill>
                <a:schemeClr val="accent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69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4A241D-414A-FDC2-7020-C37F7BEC8805}"/>
              </a:ext>
            </a:extLst>
          </p:cNvPr>
          <p:cNvSpPr>
            <a:spLocks noGrp="1"/>
          </p:cNvSpPr>
          <p:nvPr>
            <p:ph idx="1"/>
          </p:nvPr>
        </p:nvSpPr>
        <p:spPr/>
        <p:txBody>
          <a:bodyPr/>
          <a:lstStyle/>
          <a:p>
            <a:endParaRPr lang="en-IN"/>
          </a:p>
        </p:txBody>
      </p:sp>
      <p:grpSp>
        <p:nvGrpSpPr>
          <p:cNvPr id="10" name="Group 9">
            <a:extLst>
              <a:ext uri="{FF2B5EF4-FFF2-40B4-BE49-F238E27FC236}">
                <a16:creationId xmlns:a16="http://schemas.microsoft.com/office/drawing/2014/main" id="{342E3B18-159F-0FE4-C481-4D6CD76596F9}"/>
              </a:ext>
            </a:extLst>
          </p:cNvPr>
          <p:cNvGrpSpPr/>
          <p:nvPr/>
        </p:nvGrpSpPr>
        <p:grpSpPr>
          <a:xfrm>
            <a:off x="43743" y="1626434"/>
            <a:ext cx="12148257" cy="4749719"/>
            <a:chOff x="43743" y="1921344"/>
            <a:chExt cx="12148257" cy="4749719"/>
          </a:xfrm>
        </p:grpSpPr>
        <p:pic>
          <p:nvPicPr>
            <p:cNvPr id="5" name="Picture 4">
              <a:extLst>
                <a:ext uri="{FF2B5EF4-FFF2-40B4-BE49-F238E27FC236}">
                  <a16:creationId xmlns:a16="http://schemas.microsoft.com/office/drawing/2014/main" id="{7DF1A8FC-5ABD-4521-1384-2F9E5EEFBECE}"/>
                </a:ext>
              </a:extLst>
            </p:cNvPr>
            <p:cNvPicPr>
              <a:picLocks noChangeAspect="1"/>
            </p:cNvPicPr>
            <p:nvPr/>
          </p:nvPicPr>
          <p:blipFill>
            <a:blip r:embed="rId2"/>
            <a:stretch>
              <a:fillRect/>
            </a:stretch>
          </p:blipFill>
          <p:spPr>
            <a:xfrm>
              <a:off x="43743" y="1921344"/>
              <a:ext cx="6178637" cy="4610550"/>
            </a:xfrm>
            <a:prstGeom prst="rect">
              <a:avLst/>
            </a:prstGeom>
          </p:spPr>
        </p:pic>
        <p:pic>
          <p:nvPicPr>
            <p:cNvPr id="7" name="Picture 6">
              <a:extLst>
                <a:ext uri="{FF2B5EF4-FFF2-40B4-BE49-F238E27FC236}">
                  <a16:creationId xmlns:a16="http://schemas.microsoft.com/office/drawing/2014/main" id="{EBDB09BB-DEEF-779C-3147-722200158AB3}"/>
                </a:ext>
              </a:extLst>
            </p:cNvPr>
            <p:cNvPicPr>
              <a:picLocks noChangeAspect="1"/>
            </p:cNvPicPr>
            <p:nvPr/>
          </p:nvPicPr>
          <p:blipFill>
            <a:blip r:embed="rId3"/>
            <a:stretch>
              <a:fillRect/>
            </a:stretch>
          </p:blipFill>
          <p:spPr>
            <a:xfrm>
              <a:off x="6139743" y="1921344"/>
              <a:ext cx="6052257" cy="4749719"/>
            </a:xfrm>
            <a:prstGeom prst="rect">
              <a:avLst/>
            </a:prstGeom>
          </p:spPr>
        </p:pic>
      </p:grpSp>
      <p:sp>
        <p:nvSpPr>
          <p:cNvPr id="8" name="Title 1">
            <a:extLst>
              <a:ext uri="{FF2B5EF4-FFF2-40B4-BE49-F238E27FC236}">
                <a16:creationId xmlns:a16="http://schemas.microsoft.com/office/drawing/2014/main" id="{F9D377D3-01CC-6FB2-5A38-1C53C9DA72B1}"/>
              </a:ext>
            </a:extLst>
          </p:cNvPr>
          <p:cNvSpPr txBox="1">
            <a:spLocks/>
          </p:cNvSpPr>
          <p:nvPr/>
        </p:nvSpPr>
        <p:spPr>
          <a:xfrm>
            <a:off x="0" y="1"/>
            <a:ext cx="6949699" cy="8882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b="1" dirty="0">
                <a:latin typeface="Times New Roman" panose="02020603050405020304" pitchFamily="18" charset="0"/>
                <a:cs typeface="Times New Roman" panose="02020603050405020304" pitchFamily="18" charset="0"/>
              </a:rPr>
              <a:t>Data Visualization</a:t>
            </a:r>
            <a:endParaRPr lang="en-IN" sz="4000" b="1" dirty="0">
              <a:solidFill>
                <a:schemeClr val="accent2"/>
              </a:solidFill>
              <a:latin typeface="Times New Roman" panose="02020603050405020304" pitchFamily="18" charset="0"/>
              <a:cs typeface="Times New Roman" panose="02020603050405020304" pitchFamily="18" charset="0"/>
            </a:endParaRPr>
          </a:p>
        </p:txBody>
      </p:sp>
      <p:sp>
        <p:nvSpPr>
          <p:cNvPr id="9" name="Content Placeholder 2">
            <a:extLst>
              <a:ext uri="{FF2B5EF4-FFF2-40B4-BE49-F238E27FC236}">
                <a16:creationId xmlns:a16="http://schemas.microsoft.com/office/drawing/2014/main" id="{C92CEE1E-BE54-C504-679C-C0E1D6A5DAD0}"/>
              </a:ext>
            </a:extLst>
          </p:cNvPr>
          <p:cNvSpPr txBox="1">
            <a:spLocks/>
          </p:cNvSpPr>
          <p:nvPr/>
        </p:nvSpPr>
        <p:spPr>
          <a:xfrm>
            <a:off x="197867" y="880228"/>
            <a:ext cx="1170878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chemeClr val="accent2"/>
                </a:solidFill>
                <a:latin typeface="Times New Roman" panose="02020603050405020304" pitchFamily="18" charset="0"/>
                <a:cs typeface="Times New Roman" panose="02020603050405020304" pitchFamily="18" charset="0"/>
              </a:rPr>
              <a:t>Average Price by Location and top 10 location by average price </a:t>
            </a:r>
            <a:endParaRPr lang="en-IN" sz="2400" dirty="0">
              <a:solidFill>
                <a:schemeClr val="accent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35890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7E806-CA5B-5928-CFB2-377D7CA60CC7}"/>
              </a:ext>
            </a:extLst>
          </p:cNvPr>
          <p:cNvSpPr>
            <a:spLocks noGrp="1"/>
          </p:cNvSpPr>
          <p:nvPr>
            <p:ph type="title"/>
          </p:nvPr>
        </p:nvSpPr>
        <p:spPr>
          <a:xfrm>
            <a:off x="111513" y="764588"/>
            <a:ext cx="11485756" cy="888279"/>
          </a:xfrm>
        </p:spPr>
        <p:txBody>
          <a:bodyPr>
            <a:normAutofit/>
          </a:bodyPr>
          <a:lstStyle/>
          <a:p>
            <a:r>
              <a:rPr lang="en-US" sz="2800" i="1" dirty="0">
                <a:solidFill>
                  <a:schemeClr val="accent2"/>
                </a:solidFill>
                <a:latin typeface="Times New Roman" panose="02020603050405020304" pitchFamily="18" charset="0"/>
                <a:cs typeface="Times New Roman" panose="02020603050405020304" pitchFamily="18" charset="0"/>
              </a:rPr>
              <a:t>Dummy or indicator features for categorical variables</a:t>
            </a:r>
            <a:br>
              <a:rPr lang="en-US" sz="2800" dirty="0"/>
            </a:br>
            <a:endParaRPr lang="en-IN" sz="2800" dirty="0"/>
          </a:p>
        </p:txBody>
      </p:sp>
      <p:sp>
        <p:nvSpPr>
          <p:cNvPr id="4" name="Title 1">
            <a:extLst>
              <a:ext uri="{FF2B5EF4-FFF2-40B4-BE49-F238E27FC236}">
                <a16:creationId xmlns:a16="http://schemas.microsoft.com/office/drawing/2014/main" id="{B87AB9B7-0FD5-D561-72E1-22035E3062EB}"/>
              </a:ext>
            </a:extLst>
          </p:cNvPr>
          <p:cNvSpPr txBox="1">
            <a:spLocks/>
          </p:cNvSpPr>
          <p:nvPr/>
        </p:nvSpPr>
        <p:spPr>
          <a:xfrm>
            <a:off x="0" y="1"/>
            <a:ext cx="6949699" cy="8882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b="1" dirty="0">
                <a:latin typeface="Times New Roman" panose="02020603050405020304" pitchFamily="18" charset="0"/>
                <a:cs typeface="Times New Roman" panose="02020603050405020304" pitchFamily="18" charset="0"/>
              </a:rPr>
              <a:t>Data Visualization</a:t>
            </a:r>
            <a:endParaRPr lang="en-IN" sz="4000" b="1" dirty="0">
              <a:solidFill>
                <a:schemeClr val="accent2"/>
              </a:solidFill>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AE20E47A-5978-9F57-D48E-9145C9F92A05}"/>
              </a:ext>
            </a:extLst>
          </p:cNvPr>
          <p:cNvSpPr txBox="1">
            <a:spLocks/>
          </p:cNvSpPr>
          <p:nvPr/>
        </p:nvSpPr>
        <p:spPr>
          <a:xfrm>
            <a:off x="241609" y="1540323"/>
            <a:ext cx="1170878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IN" sz="2400" dirty="0">
              <a:solidFill>
                <a:schemeClr val="accent2"/>
              </a:solidFill>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7953F124-C7F3-C81E-2AF4-7648403DAB97}"/>
              </a:ext>
            </a:extLst>
          </p:cNvPr>
          <p:cNvSpPr txBox="1">
            <a:spLocks/>
          </p:cNvSpPr>
          <p:nvPr/>
        </p:nvSpPr>
        <p:spPr>
          <a:xfrm>
            <a:off x="0" y="1360447"/>
            <a:ext cx="12192000" cy="55000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200" dirty="0">
                <a:latin typeface="Times New Roman" panose="02020603050405020304" pitchFamily="18" charset="0"/>
                <a:cs typeface="Times New Roman" panose="02020603050405020304" pitchFamily="18" charset="0"/>
              </a:rPr>
              <a:t>This technique is used to convert the categorical variables into numeric values. </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Out dataset contains some categorical variable which are: ‘</a:t>
            </a:r>
            <a:r>
              <a:rPr lang="en-IN" sz="2200" i="1" dirty="0">
                <a:latin typeface="Times New Roman" panose="02020603050405020304" pitchFamily="18" charset="0"/>
                <a:cs typeface="Times New Roman" panose="02020603050405020304" pitchFamily="18" charset="0"/>
              </a:rPr>
              <a:t>location’, </a:t>
            </a:r>
            <a:r>
              <a:rPr lang="en-US" sz="2200" i="1" dirty="0">
                <a:latin typeface="Times New Roman" panose="02020603050405020304" pitchFamily="18" charset="0"/>
                <a:cs typeface="Times New Roman" panose="02020603050405020304" pitchFamily="18" charset="0"/>
              </a:rPr>
              <a:t>'Status', 'Transaction', 'Furnishing', 'facing', 'overlooking', 'Ownership’, ‘</a:t>
            </a:r>
            <a:r>
              <a:rPr lang="en-IN" sz="2200" i="1" dirty="0">
                <a:latin typeface="Times New Roman" panose="02020603050405020304" pitchFamily="18" charset="0"/>
                <a:cs typeface="Times New Roman" panose="02020603050405020304" pitchFamily="18" charset="0"/>
              </a:rPr>
              <a:t>Society’, ‘Floor’, ‘Car Parking’. </a:t>
            </a:r>
          </a:p>
          <a:p>
            <a:pPr algn="just"/>
            <a:r>
              <a:rPr lang="en-IN" sz="2200" dirty="0">
                <a:latin typeface="Times New Roman" panose="02020603050405020304" pitchFamily="18" charset="0"/>
                <a:cs typeface="Times New Roman" panose="02020603050405020304" pitchFamily="18" charset="0"/>
              </a:rPr>
              <a:t>We have used one hot encoding and Label Encoding method to convert them as numeric values</a:t>
            </a:r>
          </a:p>
          <a:p>
            <a:pPr algn="just"/>
            <a:endParaRPr lang="en-IN" sz="2200"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As we can see the all the categorical columns have now been converted to numeric features only </a:t>
            </a:r>
          </a:p>
        </p:txBody>
      </p:sp>
      <p:grpSp>
        <p:nvGrpSpPr>
          <p:cNvPr id="11" name="Group 10">
            <a:extLst>
              <a:ext uri="{FF2B5EF4-FFF2-40B4-BE49-F238E27FC236}">
                <a16:creationId xmlns:a16="http://schemas.microsoft.com/office/drawing/2014/main" id="{92D2A308-5CB6-5E13-96F8-C1E3CA9E4698}"/>
              </a:ext>
            </a:extLst>
          </p:cNvPr>
          <p:cNvGrpSpPr/>
          <p:nvPr/>
        </p:nvGrpSpPr>
        <p:grpSpPr>
          <a:xfrm>
            <a:off x="110268" y="3150907"/>
            <a:ext cx="11971461" cy="2740754"/>
            <a:chOff x="111514" y="3346666"/>
            <a:chExt cx="11971461" cy="2740754"/>
          </a:xfrm>
        </p:grpSpPr>
        <p:pic>
          <p:nvPicPr>
            <p:cNvPr id="8" name="Picture 7">
              <a:extLst>
                <a:ext uri="{FF2B5EF4-FFF2-40B4-BE49-F238E27FC236}">
                  <a16:creationId xmlns:a16="http://schemas.microsoft.com/office/drawing/2014/main" id="{66192B7C-6B9E-3977-BA8A-875B89D7DD80}"/>
                </a:ext>
              </a:extLst>
            </p:cNvPr>
            <p:cNvPicPr>
              <a:picLocks noChangeAspect="1"/>
            </p:cNvPicPr>
            <p:nvPr/>
          </p:nvPicPr>
          <p:blipFill>
            <a:blip r:embed="rId2"/>
            <a:stretch>
              <a:fillRect/>
            </a:stretch>
          </p:blipFill>
          <p:spPr>
            <a:xfrm>
              <a:off x="111514" y="3346666"/>
              <a:ext cx="5731726" cy="2740754"/>
            </a:xfrm>
            <a:prstGeom prst="rect">
              <a:avLst/>
            </a:prstGeom>
          </p:spPr>
        </p:pic>
        <p:pic>
          <p:nvPicPr>
            <p:cNvPr id="10" name="Picture 9">
              <a:extLst>
                <a:ext uri="{FF2B5EF4-FFF2-40B4-BE49-F238E27FC236}">
                  <a16:creationId xmlns:a16="http://schemas.microsoft.com/office/drawing/2014/main" id="{E7615AE8-0D19-E475-2DC2-DFA39D591401}"/>
                </a:ext>
              </a:extLst>
            </p:cNvPr>
            <p:cNvPicPr>
              <a:picLocks noChangeAspect="1"/>
            </p:cNvPicPr>
            <p:nvPr/>
          </p:nvPicPr>
          <p:blipFill>
            <a:blip r:embed="rId3"/>
            <a:stretch>
              <a:fillRect/>
            </a:stretch>
          </p:blipFill>
          <p:spPr>
            <a:xfrm>
              <a:off x="5973335" y="3391022"/>
              <a:ext cx="6109640" cy="2650414"/>
            </a:xfrm>
            <a:prstGeom prst="rect">
              <a:avLst/>
            </a:prstGeom>
          </p:spPr>
        </p:pic>
      </p:grpSp>
    </p:spTree>
    <p:extLst>
      <p:ext uri="{BB962C8B-B14F-4D97-AF65-F5344CB8AC3E}">
        <p14:creationId xmlns:p14="http://schemas.microsoft.com/office/powerpoint/2010/main" val="27114334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55C04-EF3F-1132-BB8C-D629D1140AC4}"/>
              </a:ext>
            </a:extLst>
          </p:cNvPr>
          <p:cNvSpPr>
            <a:spLocks noGrp="1"/>
          </p:cNvSpPr>
          <p:nvPr>
            <p:ph type="title"/>
          </p:nvPr>
        </p:nvSpPr>
        <p:spPr>
          <a:xfrm>
            <a:off x="0" y="18255"/>
            <a:ext cx="12192000" cy="985355"/>
          </a:xfrm>
        </p:spPr>
        <p:txBody>
          <a:bodyPr>
            <a:normAutofit/>
          </a:bodyPr>
          <a:lstStyle/>
          <a:p>
            <a:r>
              <a:rPr lang="en-IN" sz="4000" b="1" dirty="0">
                <a:latin typeface="Times New Roman" panose="02020603050405020304" pitchFamily="18" charset="0"/>
                <a:cs typeface="Times New Roman" panose="02020603050405020304" pitchFamily="18" charset="0"/>
              </a:rPr>
              <a:t>Feature Engineering </a:t>
            </a:r>
          </a:p>
        </p:txBody>
      </p:sp>
      <p:sp>
        <p:nvSpPr>
          <p:cNvPr id="3" name="Content Placeholder 2">
            <a:extLst>
              <a:ext uri="{FF2B5EF4-FFF2-40B4-BE49-F238E27FC236}">
                <a16:creationId xmlns:a16="http://schemas.microsoft.com/office/drawing/2014/main" id="{02F0F7F4-63A3-336D-BBE5-6DC52267BC29}"/>
              </a:ext>
            </a:extLst>
          </p:cNvPr>
          <p:cNvSpPr>
            <a:spLocks noGrp="1"/>
          </p:cNvSpPr>
          <p:nvPr>
            <p:ph idx="1"/>
          </p:nvPr>
        </p:nvSpPr>
        <p:spPr>
          <a:xfrm>
            <a:off x="180278" y="1086063"/>
            <a:ext cx="11718074" cy="4351338"/>
          </a:xfrm>
        </p:spPr>
        <p:txBody>
          <a:bodyPr/>
          <a:lstStyle/>
          <a:p>
            <a:pPr marL="0" indent="0" algn="just">
              <a:buNone/>
            </a:pPr>
            <a:r>
              <a:rPr lang="en-IN" dirty="0">
                <a:solidFill>
                  <a:schemeClr val="accent2"/>
                </a:solidFill>
                <a:latin typeface="Times New Roman" panose="02020603050405020304" pitchFamily="18" charset="0"/>
                <a:cs typeface="Times New Roman" panose="02020603050405020304" pitchFamily="18" charset="0"/>
              </a:rPr>
              <a:t>Feature engineering is the process of using domain knowledge to extract features from raw data via data mining techniques. These features can be used to improve the performance of machine learning algorithms. Feature engineering can be considered as applied machine learning itself. </a:t>
            </a:r>
          </a:p>
          <a:p>
            <a:pPr algn="just"/>
            <a:endParaRPr lang="en-IN" dirty="0">
              <a:solidFill>
                <a:schemeClr val="accent2"/>
              </a:solidFill>
            </a:endParaRPr>
          </a:p>
        </p:txBody>
      </p:sp>
      <p:pic>
        <p:nvPicPr>
          <p:cNvPr id="5" name="Picture 4">
            <a:extLst>
              <a:ext uri="{FF2B5EF4-FFF2-40B4-BE49-F238E27FC236}">
                <a16:creationId xmlns:a16="http://schemas.microsoft.com/office/drawing/2014/main" id="{9FDC4B4F-1A00-45EB-2FF5-0491398772E2}"/>
              </a:ext>
            </a:extLst>
          </p:cNvPr>
          <p:cNvPicPr>
            <a:picLocks noChangeAspect="1"/>
          </p:cNvPicPr>
          <p:nvPr/>
        </p:nvPicPr>
        <p:blipFill>
          <a:blip r:embed="rId2"/>
          <a:stretch>
            <a:fillRect/>
          </a:stretch>
        </p:blipFill>
        <p:spPr>
          <a:xfrm>
            <a:off x="1671901" y="3429000"/>
            <a:ext cx="8848198" cy="2263493"/>
          </a:xfrm>
          <a:prstGeom prst="rect">
            <a:avLst/>
          </a:prstGeom>
        </p:spPr>
      </p:pic>
    </p:spTree>
    <p:extLst>
      <p:ext uri="{BB962C8B-B14F-4D97-AF65-F5344CB8AC3E}">
        <p14:creationId xmlns:p14="http://schemas.microsoft.com/office/powerpoint/2010/main" val="35824428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296DF-1770-78CB-2F78-68259AAB4B72}"/>
              </a:ext>
            </a:extLst>
          </p:cNvPr>
          <p:cNvSpPr>
            <a:spLocks noGrp="1"/>
          </p:cNvSpPr>
          <p:nvPr>
            <p:ph type="title"/>
          </p:nvPr>
        </p:nvSpPr>
        <p:spPr>
          <a:xfrm>
            <a:off x="0" y="18255"/>
            <a:ext cx="10515600" cy="1063413"/>
          </a:xfrm>
        </p:spPr>
        <p:txBody>
          <a:bodyPr/>
          <a:lstStyle/>
          <a:p>
            <a:r>
              <a:rPr lang="en-IN" b="1" dirty="0">
                <a:latin typeface="Times New Roman" panose="02020603050405020304" pitchFamily="18" charset="0"/>
                <a:cs typeface="Times New Roman" panose="02020603050405020304" pitchFamily="18" charset="0"/>
              </a:rPr>
              <a:t>Machine Learning Algorithm </a:t>
            </a:r>
          </a:p>
        </p:txBody>
      </p:sp>
      <p:sp>
        <p:nvSpPr>
          <p:cNvPr id="3" name="Content Placeholder 2">
            <a:extLst>
              <a:ext uri="{FF2B5EF4-FFF2-40B4-BE49-F238E27FC236}">
                <a16:creationId xmlns:a16="http://schemas.microsoft.com/office/drawing/2014/main" id="{13605D36-7B2D-9AE7-4435-A37EBEFD5A3F}"/>
              </a:ext>
            </a:extLst>
          </p:cNvPr>
          <p:cNvSpPr>
            <a:spLocks noGrp="1"/>
          </p:cNvSpPr>
          <p:nvPr>
            <p:ph idx="1"/>
          </p:nvPr>
        </p:nvSpPr>
        <p:spPr>
          <a:xfrm>
            <a:off x="147754" y="1081668"/>
            <a:ext cx="11718073" cy="5456121"/>
          </a:xfrm>
        </p:spPr>
        <p:txBody>
          <a:bodyPr>
            <a:normAutofit lnSpcReduction="10000"/>
          </a:bodyPr>
          <a:lstStyle/>
          <a:p>
            <a:pPr algn="just"/>
            <a:r>
              <a:rPr lang="en-IN" sz="2200" dirty="0">
                <a:latin typeface="Times" panose="02020603050405020304" pitchFamily="18" charset="0"/>
                <a:cs typeface="Times" panose="02020603050405020304" pitchFamily="18" charset="0"/>
              </a:rPr>
              <a:t>We set the independent and target variables as X and Y respectively. </a:t>
            </a:r>
          </a:p>
          <a:p>
            <a:pPr algn="just"/>
            <a:endParaRPr lang="en-IN" sz="2200" dirty="0">
              <a:latin typeface="Times" panose="02020603050405020304" pitchFamily="18" charset="0"/>
              <a:cs typeface="Times" panose="02020603050405020304" pitchFamily="18" charset="0"/>
            </a:endParaRPr>
          </a:p>
          <a:p>
            <a:pPr algn="just"/>
            <a:r>
              <a:rPr lang="en-IN" sz="2200" dirty="0">
                <a:latin typeface="Times" panose="02020603050405020304" pitchFamily="18" charset="0"/>
                <a:cs typeface="Times" panose="02020603050405020304" pitchFamily="18" charset="0"/>
              </a:rPr>
              <a:t>Split the dataset into training and testing set in 70:30 ratio. </a:t>
            </a:r>
          </a:p>
          <a:p>
            <a:pPr algn="just"/>
            <a:endParaRPr lang="en-IN" sz="2200" dirty="0">
              <a:latin typeface="Times" panose="02020603050405020304" pitchFamily="18" charset="0"/>
              <a:cs typeface="Times" panose="02020603050405020304" pitchFamily="18" charset="0"/>
            </a:endParaRPr>
          </a:p>
          <a:p>
            <a:pPr algn="just"/>
            <a:r>
              <a:rPr lang="en-IN" sz="2200" dirty="0">
                <a:latin typeface="Times" panose="02020603050405020304" pitchFamily="18" charset="0"/>
                <a:cs typeface="Times" panose="02020603050405020304" pitchFamily="18" charset="0"/>
              </a:rPr>
              <a:t>Fitting the train set to multiple models </a:t>
            </a:r>
            <a:r>
              <a:rPr lang="en-IN" sz="2200" b="1" dirty="0">
                <a:latin typeface="Times" panose="02020603050405020304" pitchFamily="18" charset="0"/>
                <a:cs typeface="Times" panose="02020603050405020304" pitchFamily="18" charset="0"/>
              </a:rPr>
              <a:t>(Linear Regression, Random Forest, Ridge Regression, Gradient Boosting and Ada Boost) </a:t>
            </a:r>
            <a:r>
              <a:rPr lang="en-IN" sz="2200" dirty="0">
                <a:latin typeface="Times" panose="02020603050405020304" pitchFamily="18" charset="0"/>
                <a:cs typeface="Times" panose="02020603050405020304" pitchFamily="18" charset="0"/>
              </a:rPr>
              <a:t>and getting the score on test set. </a:t>
            </a:r>
          </a:p>
          <a:p>
            <a:pPr algn="just"/>
            <a:endParaRPr lang="en-IN" sz="2200" dirty="0">
              <a:latin typeface="Times" panose="02020603050405020304" pitchFamily="18" charset="0"/>
              <a:cs typeface="Times" panose="02020603050405020304" pitchFamily="18" charset="0"/>
            </a:endParaRPr>
          </a:p>
          <a:p>
            <a:pPr algn="just"/>
            <a:r>
              <a:rPr lang="en-IN" sz="2200" dirty="0">
                <a:latin typeface="Times" panose="02020603050405020304" pitchFamily="18" charset="0"/>
                <a:cs typeface="Times" panose="02020603050405020304" pitchFamily="18" charset="0"/>
              </a:rPr>
              <a:t>Calculated the MSE (Mean Squared Error), MAE(Mean Absolute Error) and accuracy score (R-squared) and compared the same for each model. </a:t>
            </a:r>
          </a:p>
          <a:p>
            <a:pPr algn="just"/>
            <a:endParaRPr lang="en-IN" sz="2200" dirty="0">
              <a:latin typeface="Times" panose="02020603050405020304" pitchFamily="18" charset="0"/>
              <a:cs typeface="Times" panose="02020603050405020304" pitchFamily="18" charset="0"/>
            </a:endParaRPr>
          </a:p>
          <a:p>
            <a:pPr algn="just"/>
            <a:r>
              <a:rPr lang="en-IN" sz="2200" dirty="0">
                <a:latin typeface="Times" panose="02020603050405020304" pitchFamily="18" charset="0"/>
                <a:cs typeface="Times" panose="02020603050405020304" pitchFamily="18" charset="0"/>
              </a:rPr>
              <a:t>Calculated the mean of Cross-Validation score for training and test set and compared the same for each model. </a:t>
            </a:r>
          </a:p>
          <a:p>
            <a:pPr algn="just"/>
            <a:endParaRPr lang="en-IN" sz="2200" dirty="0">
              <a:latin typeface="Times" panose="02020603050405020304" pitchFamily="18" charset="0"/>
              <a:cs typeface="Times" panose="02020603050405020304" pitchFamily="18" charset="0"/>
            </a:endParaRPr>
          </a:p>
          <a:p>
            <a:pPr algn="just"/>
            <a:r>
              <a:rPr lang="en-IN" sz="2200" dirty="0">
                <a:latin typeface="Times" panose="02020603050405020304" pitchFamily="18" charset="0"/>
                <a:cs typeface="Times" panose="02020603050405020304" pitchFamily="18" charset="0"/>
              </a:rPr>
              <a:t>Lastly completed the modelling </a:t>
            </a:r>
            <a:r>
              <a:rPr lang="en-US" sz="2200" dirty="0">
                <a:latin typeface="Times" panose="02020603050405020304" pitchFamily="18" charset="0"/>
                <a:cs typeface="Times" panose="02020603050405020304" pitchFamily="18" charset="0"/>
              </a:rPr>
              <a:t>by applying Random Search and Grid Search for Hyperparameter tuning</a:t>
            </a:r>
            <a:endParaRPr lang="en-IN" sz="2200" dirty="0">
              <a:latin typeface="Times" panose="02020603050405020304" pitchFamily="18" charset="0"/>
              <a:cs typeface="Times"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95685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1C1FE1-186F-DAD4-E54B-F859B0EE3755}"/>
              </a:ext>
            </a:extLst>
          </p:cNvPr>
          <p:cNvSpPr>
            <a:spLocks noGrp="1"/>
          </p:cNvSpPr>
          <p:nvPr>
            <p:ph idx="1"/>
          </p:nvPr>
        </p:nvSpPr>
        <p:spPr>
          <a:xfrm>
            <a:off x="146824" y="918794"/>
            <a:ext cx="9498981" cy="4351338"/>
          </a:xfrm>
        </p:spPr>
        <p:txBody>
          <a:bodyPr/>
          <a:lstStyle/>
          <a:p>
            <a:pPr marL="0" indent="0">
              <a:buNone/>
            </a:pPr>
            <a:r>
              <a:rPr lang="en-IN" dirty="0">
                <a:solidFill>
                  <a:schemeClr val="accent2"/>
                </a:solidFill>
                <a:latin typeface="Times" panose="02020603050405020304" pitchFamily="18" charset="0"/>
                <a:cs typeface="Times" panose="02020603050405020304" pitchFamily="18" charset="0"/>
              </a:rPr>
              <a:t>Comparison of Model Accuracy score for all five models</a:t>
            </a:r>
          </a:p>
          <a:p>
            <a:pPr marL="0" indent="0">
              <a:buNone/>
            </a:pPr>
            <a:r>
              <a:rPr lang="en-IN" dirty="0">
                <a:solidFill>
                  <a:schemeClr val="accent2"/>
                </a:solidFill>
                <a:latin typeface="Times" panose="02020603050405020304" pitchFamily="18" charset="0"/>
                <a:cs typeface="Times" panose="02020603050405020304" pitchFamily="18" charset="0"/>
              </a:rPr>
              <a:t>--Random Forest and Gradient Boosting showed highest accuracy of approx. 90%.  </a:t>
            </a:r>
          </a:p>
        </p:txBody>
      </p:sp>
      <p:pic>
        <p:nvPicPr>
          <p:cNvPr id="5" name="Picture 4">
            <a:extLst>
              <a:ext uri="{FF2B5EF4-FFF2-40B4-BE49-F238E27FC236}">
                <a16:creationId xmlns:a16="http://schemas.microsoft.com/office/drawing/2014/main" id="{3A208259-9BFA-A677-6674-E0575EE86902}"/>
              </a:ext>
            </a:extLst>
          </p:cNvPr>
          <p:cNvPicPr>
            <a:picLocks noChangeAspect="1"/>
          </p:cNvPicPr>
          <p:nvPr/>
        </p:nvPicPr>
        <p:blipFill>
          <a:blip r:embed="rId2"/>
          <a:stretch>
            <a:fillRect/>
          </a:stretch>
        </p:blipFill>
        <p:spPr>
          <a:xfrm>
            <a:off x="4120556" y="1880636"/>
            <a:ext cx="7655132" cy="4959109"/>
          </a:xfrm>
          <a:prstGeom prst="rect">
            <a:avLst/>
          </a:prstGeom>
        </p:spPr>
      </p:pic>
      <p:sp>
        <p:nvSpPr>
          <p:cNvPr id="6" name="Title 1">
            <a:extLst>
              <a:ext uri="{FF2B5EF4-FFF2-40B4-BE49-F238E27FC236}">
                <a16:creationId xmlns:a16="http://schemas.microsoft.com/office/drawing/2014/main" id="{DBC4BBD2-5B96-2BFB-28B2-EE8FE46F6ECD}"/>
              </a:ext>
            </a:extLst>
          </p:cNvPr>
          <p:cNvSpPr txBox="1">
            <a:spLocks/>
          </p:cNvSpPr>
          <p:nvPr/>
        </p:nvSpPr>
        <p:spPr>
          <a:xfrm>
            <a:off x="0" y="18255"/>
            <a:ext cx="10515600" cy="10634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dirty="0">
                <a:latin typeface="Times New Roman" panose="02020603050405020304" pitchFamily="18" charset="0"/>
                <a:cs typeface="Times New Roman" panose="02020603050405020304" pitchFamily="18" charset="0"/>
              </a:rPr>
              <a:t>Machine Learning Algorithm </a:t>
            </a:r>
          </a:p>
        </p:txBody>
      </p:sp>
      <p:pic>
        <p:nvPicPr>
          <p:cNvPr id="8" name="Picture 7">
            <a:extLst>
              <a:ext uri="{FF2B5EF4-FFF2-40B4-BE49-F238E27FC236}">
                <a16:creationId xmlns:a16="http://schemas.microsoft.com/office/drawing/2014/main" id="{E080FA4F-71A2-0001-9B59-EA427A739E91}"/>
              </a:ext>
            </a:extLst>
          </p:cNvPr>
          <p:cNvPicPr>
            <a:picLocks noChangeAspect="1"/>
          </p:cNvPicPr>
          <p:nvPr/>
        </p:nvPicPr>
        <p:blipFill>
          <a:blip r:embed="rId3"/>
          <a:stretch>
            <a:fillRect/>
          </a:stretch>
        </p:blipFill>
        <p:spPr>
          <a:xfrm>
            <a:off x="574254" y="2901850"/>
            <a:ext cx="3472890" cy="2261165"/>
          </a:xfrm>
          <a:prstGeom prst="rect">
            <a:avLst/>
          </a:prstGeom>
        </p:spPr>
      </p:pic>
    </p:spTree>
    <p:extLst>
      <p:ext uri="{BB962C8B-B14F-4D97-AF65-F5344CB8AC3E}">
        <p14:creationId xmlns:p14="http://schemas.microsoft.com/office/powerpoint/2010/main" val="4406752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816B17F-EC4F-300A-4A98-72F9DAF050C1}"/>
              </a:ext>
            </a:extLst>
          </p:cNvPr>
          <p:cNvPicPr>
            <a:picLocks noChangeAspect="1"/>
          </p:cNvPicPr>
          <p:nvPr/>
        </p:nvPicPr>
        <p:blipFill>
          <a:blip r:embed="rId2"/>
          <a:stretch>
            <a:fillRect/>
          </a:stretch>
        </p:blipFill>
        <p:spPr>
          <a:xfrm>
            <a:off x="4641068" y="1587868"/>
            <a:ext cx="7325747" cy="4982270"/>
          </a:xfrm>
          <a:prstGeom prst="rect">
            <a:avLst/>
          </a:prstGeom>
        </p:spPr>
      </p:pic>
      <p:sp>
        <p:nvSpPr>
          <p:cNvPr id="6" name="Title 1">
            <a:extLst>
              <a:ext uri="{FF2B5EF4-FFF2-40B4-BE49-F238E27FC236}">
                <a16:creationId xmlns:a16="http://schemas.microsoft.com/office/drawing/2014/main" id="{3F261920-E3B4-338F-2F09-DFFE2099FF1F}"/>
              </a:ext>
            </a:extLst>
          </p:cNvPr>
          <p:cNvSpPr txBox="1">
            <a:spLocks/>
          </p:cNvSpPr>
          <p:nvPr/>
        </p:nvSpPr>
        <p:spPr>
          <a:xfrm>
            <a:off x="0" y="18255"/>
            <a:ext cx="10515600" cy="10634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a:latin typeface="Times New Roman" panose="02020603050405020304" pitchFamily="18" charset="0"/>
                <a:cs typeface="Times New Roman" panose="02020603050405020304" pitchFamily="18" charset="0"/>
              </a:rPr>
              <a:t>Machine Learning Algorithm </a:t>
            </a:r>
            <a:endParaRPr lang="en-IN" b="1" dirty="0">
              <a:latin typeface="Times New Roman" panose="02020603050405020304" pitchFamily="18"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8F44BBFD-ECF0-02DB-56DB-6C11D2B0047B}"/>
              </a:ext>
            </a:extLst>
          </p:cNvPr>
          <p:cNvSpPr txBox="1">
            <a:spLocks/>
          </p:cNvSpPr>
          <p:nvPr/>
        </p:nvSpPr>
        <p:spPr>
          <a:xfrm>
            <a:off x="146824" y="918794"/>
            <a:ext cx="949898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dirty="0">
                <a:solidFill>
                  <a:schemeClr val="accent2"/>
                </a:solidFill>
                <a:latin typeface="Times" panose="02020603050405020304" pitchFamily="18" charset="0"/>
                <a:cs typeface="Times" panose="02020603050405020304" pitchFamily="18" charset="0"/>
              </a:rPr>
              <a:t>Comparison of Algorithms on their training and test cross validation mean. </a:t>
            </a:r>
          </a:p>
        </p:txBody>
      </p:sp>
      <p:pic>
        <p:nvPicPr>
          <p:cNvPr id="9" name="Picture 8">
            <a:extLst>
              <a:ext uri="{FF2B5EF4-FFF2-40B4-BE49-F238E27FC236}">
                <a16:creationId xmlns:a16="http://schemas.microsoft.com/office/drawing/2014/main" id="{D36E712E-997F-74B9-92EB-AD6E662F0055}"/>
              </a:ext>
            </a:extLst>
          </p:cNvPr>
          <p:cNvPicPr>
            <a:picLocks noChangeAspect="1"/>
          </p:cNvPicPr>
          <p:nvPr/>
        </p:nvPicPr>
        <p:blipFill>
          <a:blip r:embed="rId3"/>
          <a:stretch>
            <a:fillRect/>
          </a:stretch>
        </p:blipFill>
        <p:spPr>
          <a:xfrm>
            <a:off x="471210" y="2779991"/>
            <a:ext cx="3845472" cy="2130600"/>
          </a:xfrm>
          <a:prstGeom prst="rect">
            <a:avLst/>
          </a:prstGeom>
        </p:spPr>
      </p:pic>
    </p:spTree>
    <p:extLst>
      <p:ext uri="{BB962C8B-B14F-4D97-AF65-F5344CB8AC3E}">
        <p14:creationId xmlns:p14="http://schemas.microsoft.com/office/powerpoint/2010/main" val="17281067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5BF942D-1C8C-AF6D-F421-A2A07215F27C}"/>
              </a:ext>
            </a:extLst>
          </p:cNvPr>
          <p:cNvPicPr>
            <a:picLocks noChangeAspect="1"/>
          </p:cNvPicPr>
          <p:nvPr/>
        </p:nvPicPr>
        <p:blipFill>
          <a:blip r:embed="rId2"/>
          <a:stretch>
            <a:fillRect/>
          </a:stretch>
        </p:blipFill>
        <p:spPr>
          <a:xfrm>
            <a:off x="155000" y="2993984"/>
            <a:ext cx="11854142" cy="715684"/>
          </a:xfrm>
          <a:prstGeom prst="rect">
            <a:avLst/>
          </a:prstGeom>
        </p:spPr>
      </p:pic>
      <p:pic>
        <p:nvPicPr>
          <p:cNvPr id="9" name="Picture 8">
            <a:extLst>
              <a:ext uri="{FF2B5EF4-FFF2-40B4-BE49-F238E27FC236}">
                <a16:creationId xmlns:a16="http://schemas.microsoft.com/office/drawing/2014/main" id="{4987FB55-CF30-60FD-DF16-C79D859D0C11}"/>
              </a:ext>
            </a:extLst>
          </p:cNvPr>
          <p:cNvPicPr>
            <a:picLocks noChangeAspect="1"/>
          </p:cNvPicPr>
          <p:nvPr/>
        </p:nvPicPr>
        <p:blipFill>
          <a:blip r:embed="rId3"/>
          <a:stretch>
            <a:fillRect/>
          </a:stretch>
        </p:blipFill>
        <p:spPr>
          <a:xfrm>
            <a:off x="5321464" y="4874647"/>
            <a:ext cx="1947827" cy="1335653"/>
          </a:xfrm>
          <a:prstGeom prst="rect">
            <a:avLst/>
          </a:prstGeom>
        </p:spPr>
      </p:pic>
      <p:sp>
        <p:nvSpPr>
          <p:cNvPr id="10" name="Title 1">
            <a:extLst>
              <a:ext uri="{FF2B5EF4-FFF2-40B4-BE49-F238E27FC236}">
                <a16:creationId xmlns:a16="http://schemas.microsoft.com/office/drawing/2014/main" id="{6C10483F-8CDC-A139-6F24-5706BD05925A}"/>
              </a:ext>
            </a:extLst>
          </p:cNvPr>
          <p:cNvSpPr txBox="1">
            <a:spLocks/>
          </p:cNvSpPr>
          <p:nvPr/>
        </p:nvSpPr>
        <p:spPr>
          <a:xfrm>
            <a:off x="0" y="18255"/>
            <a:ext cx="10515600" cy="10634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dirty="0">
                <a:latin typeface="Times New Roman" panose="02020603050405020304" pitchFamily="18" charset="0"/>
                <a:cs typeface="Times New Roman" panose="02020603050405020304" pitchFamily="18" charset="0"/>
              </a:rPr>
              <a:t>Random Search Cross Validation </a:t>
            </a:r>
          </a:p>
        </p:txBody>
      </p:sp>
      <p:sp>
        <p:nvSpPr>
          <p:cNvPr id="11" name="Content Placeholder 2">
            <a:extLst>
              <a:ext uri="{FF2B5EF4-FFF2-40B4-BE49-F238E27FC236}">
                <a16:creationId xmlns:a16="http://schemas.microsoft.com/office/drawing/2014/main" id="{2AFC1ED7-5B23-ABEA-C651-3298419E830E}"/>
              </a:ext>
            </a:extLst>
          </p:cNvPr>
          <p:cNvSpPr txBox="1">
            <a:spLocks/>
          </p:cNvSpPr>
          <p:nvPr/>
        </p:nvSpPr>
        <p:spPr>
          <a:xfrm>
            <a:off x="155000" y="2184400"/>
            <a:ext cx="10932099" cy="61457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solidFill>
                  <a:schemeClr val="accent2"/>
                </a:solidFill>
                <a:latin typeface="Times" panose="02020603050405020304" pitchFamily="18" charset="0"/>
                <a:cs typeface="Times" panose="02020603050405020304" pitchFamily="18" charset="0"/>
              </a:rPr>
              <a:t>Parameter tuning for Random Forest: Best parameters came out to be: </a:t>
            </a:r>
          </a:p>
        </p:txBody>
      </p:sp>
      <p:sp>
        <p:nvSpPr>
          <p:cNvPr id="12" name="Content Placeholder 2">
            <a:extLst>
              <a:ext uri="{FF2B5EF4-FFF2-40B4-BE49-F238E27FC236}">
                <a16:creationId xmlns:a16="http://schemas.microsoft.com/office/drawing/2014/main" id="{BA709BF4-EEE4-7B29-AD02-63673C9474E9}"/>
              </a:ext>
            </a:extLst>
          </p:cNvPr>
          <p:cNvSpPr txBox="1">
            <a:spLocks/>
          </p:cNvSpPr>
          <p:nvPr/>
        </p:nvSpPr>
        <p:spPr>
          <a:xfrm>
            <a:off x="155000" y="4028454"/>
            <a:ext cx="10368776" cy="11056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solidFill>
                  <a:schemeClr val="accent2"/>
                </a:solidFill>
                <a:latin typeface="Times" panose="02020603050405020304" pitchFamily="18" charset="0"/>
                <a:cs typeface="Times" panose="02020603050405020304" pitchFamily="18" charset="0"/>
              </a:rPr>
              <a:t>Model Metrics for Random forest after fitting the best parameters obtained from Random Search  </a:t>
            </a:r>
          </a:p>
        </p:txBody>
      </p:sp>
      <p:sp>
        <p:nvSpPr>
          <p:cNvPr id="13" name="Content Placeholder 2">
            <a:extLst>
              <a:ext uri="{FF2B5EF4-FFF2-40B4-BE49-F238E27FC236}">
                <a16:creationId xmlns:a16="http://schemas.microsoft.com/office/drawing/2014/main" id="{540BCA22-031F-BF3F-43AF-4227B2B7A553}"/>
              </a:ext>
            </a:extLst>
          </p:cNvPr>
          <p:cNvSpPr txBox="1">
            <a:spLocks/>
          </p:cNvSpPr>
          <p:nvPr/>
        </p:nvSpPr>
        <p:spPr>
          <a:xfrm>
            <a:off x="155000" y="1214426"/>
            <a:ext cx="11910000" cy="6145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solidFill>
                  <a:schemeClr val="accent2"/>
                </a:solidFill>
                <a:latin typeface="Times" panose="02020603050405020304" pitchFamily="18" charset="0"/>
                <a:cs typeface="Times" panose="02020603050405020304" pitchFamily="18" charset="0"/>
              </a:rPr>
              <a:t>This is a techniques used to find the best parameters for our machine learning model.</a:t>
            </a:r>
          </a:p>
          <a:p>
            <a:pPr marL="0" indent="0">
              <a:buNone/>
            </a:pPr>
            <a:endParaRPr lang="en-IN" dirty="0">
              <a:solidFill>
                <a:schemeClr val="accent2"/>
              </a:solidFill>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39049975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5F1F9-F8F0-7ACC-40D8-9093F988528A}"/>
              </a:ext>
            </a:extLst>
          </p:cNvPr>
          <p:cNvSpPr>
            <a:spLocks noGrp="1"/>
          </p:cNvSpPr>
          <p:nvPr>
            <p:ph type="title"/>
          </p:nvPr>
        </p:nvSpPr>
        <p:spPr>
          <a:xfrm>
            <a:off x="0" y="307419"/>
            <a:ext cx="10515600" cy="600075"/>
          </a:xfrm>
        </p:spPr>
        <p:txBody>
          <a:bodyPr>
            <a:normAutofit fontScale="90000"/>
          </a:bodyPr>
          <a:lstStyle/>
          <a:p>
            <a:r>
              <a:rPr lang="en-US" b="1" dirty="0">
                <a:latin typeface="Times" panose="02020603050405020304" pitchFamily="18" charset="0"/>
                <a:cs typeface="Times" panose="02020603050405020304" pitchFamily="18" charset="0"/>
              </a:rPr>
              <a:t>Key Findings from the Project</a:t>
            </a:r>
            <a:br>
              <a:rPr lang="en-US" b="1" dirty="0"/>
            </a:br>
            <a:endParaRPr lang="en-IN" dirty="0"/>
          </a:p>
        </p:txBody>
      </p:sp>
      <p:sp>
        <p:nvSpPr>
          <p:cNvPr id="3" name="Content Placeholder 2">
            <a:extLst>
              <a:ext uri="{FF2B5EF4-FFF2-40B4-BE49-F238E27FC236}">
                <a16:creationId xmlns:a16="http://schemas.microsoft.com/office/drawing/2014/main" id="{052CCA7C-AF75-663B-BA5B-169F25AF7861}"/>
              </a:ext>
            </a:extLst>
          </p:cNvPr>
          <p:cNvSpPr>
            <a:spLocks noGrp="1"/>
          </p:cNvSpPr>
          <p:nvPr>
            <p:ph idx="1"/>
          </p:nvPr>
        </p:nvSpPr>
        <p:spPr>
          <a:xfrm>
            <a:off x="78059" y="907494"/>
            <a:ext cx="11987561" cy="5549062"/>
          </a:xfrm>
        </p:spPr>
        <p:txBody>
          <a:bodyPr>
            <a:normAutofit/>
          </a:bodyPr>
          <a:lstStyle/>
          <a:p>
            <a:pPr>
              <a:buNone/>
            </a:pPr>
            <a:r>
              <a:rPr lang="en-US" sz="2000" b="1" dirty="0">
                <a:latin typeface="Times" panose="02020603050405020304" pitchFamily="18" charset="0"/>
                <a:cs typeface="Times" panose="02020603050405020304" pitchFamily="18" charset="0"/>
              </a:rPr>
              <a:t>1. Data &amp; Market Insights</a:t>
            </a:r>
          </a:p>
          <a:p>
            <a:r>
              <a:rPr lang="en-US" sz="2000" dirty="0">
                <a:latin typeface="Times" panose="02020603050405020304" pitchFamily="18" charset="0"/>
                <a:cs typeface="Times" panose="02020603050405020304" pitchFamily="18" charset="0"/>
              </a:rPr>
              <a:t>Housing prices were found to be </a:t>
            </a:r>
            <a:r>
              <a:rPr lang="en-US" sz="2000" b="1" dirty="0">
                <a:latin typeface="Times" panose="02020603050405020304" pitchFamily="18" charset="0"/>
                <a:cs typeface="Times" panose="02020603050405020304" pitchFamily="18" charset="0"/>
              </a:rPr>
              <a:t>heavily right-skewed</a:t>
            </a:r>
            <a:r>
              <a:rPr lang="en-US" sz="2000" dirty="0">
                <a:latin typeface="Times" panose="02020603050405020304" pitchFamily="18" charset="0"/>
                <a:cs typeface="Times" panose="02020603050405020304" pitchFamily="18" charset="0"/>
              </a:rPr>
              <a:t>, largely due to a small subset of luxury properties.</a:t>
            </a:r>
          </a:p>
          <a:p>
            <a:r>
              <a:rPr lang="en-US" sz="2000" dirty="0">
                <a:latin typeface="Times" panose="02020603050405020304" pitchFamily="18" charset="0"/>
                <a:cs typeface="Times" panose="02020603050405020304" pitchFamily="18" charset="0"/>
              </a:rPr>
              <a:t>Both </a:t>
            </a:r>
            <a:r>
              <a:rPr lang="en-US" sz="2000" b="1" dirty="0">
                <a:latin typeface="Times" panose="02020603050405020304" pitchFamily="18" charset="0"/>
                <a:cs typeface="Times" panose="02020603050405020304" pitchFamily="18" charset="0"/>
              </a:rPr>
              <a:t>structural features</a:t>
            </a:r>
            <a:r>
              <a:rPr lang="en-US" sz="2000" dirty="0">
                <a:latin typeface="Times" panose="02020603050405020304" pitchFamily="18" charset="0"/>
                <a:cs typeface="Times" panose="02020603050405020304" pitchFamily="18" charset="0"/>
              </a:rPr>
              <a:t> (BHK, carpet area, bathrooms) and </a:t>
            </a:r>
            <a:r>
              <a:rPr lang="en-US" sz="2000" b="1" dirty="0">
                <a:latin typeface="Times" panose="02020603050405020304" pitchFamily="18" charset="0"/>
                <a:cs typeface="Times" panose="02020603050405020304" pitchFamily="18" charset="0"/>
              </a:rPr>
              <a:t>geographical advantages</a:t>
            </a:r>
            <a:r>
              <a:rPr lang="en-US" sz="2000" dirty="0">
                <a:latin typeface="Times" panose="02020603050405020304" pitchFamily="18" charset="0"/>
                <a:cs typeface="Times" panose="02020603050405020304" pitchFamily="18" charset="0"/>
              </a:rPr>
              <a:t> (location, society) strongly influence price.</a:t>
            </a:r>
          </a:p>
          <a:p>
            <a:pPr>
              <a:buNone/>
            </a:pPr>
            <a:r>
              <a:rPr lang="en-US" sz="2000" b="1" dirty="0">
                <a:latin typeface="Times" panose="02020603050405020304" pitchFamily="18" charset="0"/>
                <a:cs typeface="Times" panose="02020603050405020304" pitchFamily="18" charset="0"/>
              </a:rPr>
              <a:t>2. Model Performance Insights</a:t>
            </a:r>
          </a:p>
          <a:p>
            <a:r>
              <a:rPr lang="en-US" sz="2000" dirty="0">
                <a:latin typeface="Times" panose="02020603050405020304" pitchFamily="18" charset="0"/>
                <a:cs typeface="Times" panose="02020603050405020304" pitchFamily="18" charset="0"/>
              </a:rPr>
              <a:t>Linear models (Linear Regression, Ridge Regression) showed </a:t>
            </a:r>
            <a:r>
              <a:rPr lang="en-US" sz="2000" b="1" dirty="0">
                <a:latin typeface="Times" panose="02020603050405020304" pitchFamily="18" charset="0"/>
                <a:cs typeface="Times" panose="02020603050405020304" pitchFamily="18" charset="0"/>
              </a:rPr>
              <a:t>moderate accuracy (~0.718)</a:t>
            </a:r>
            <a:r>
              <a:rPr lang="en-US" sz="2000" dirty="0">
                <a:latin typeface="Times" panose="02020603050405020304" pitchFamily="18" charset="0"/>
                <a:cs typeface="Times" panose="02020603050405020304" pitchFamily="18" charset="0"/>
              </a:rPr>
              <a:t>, struggling with non-linear interactions.</a:t>
            </a:r>
          </a:p>
          <a:p>
            <a:r>
              <a:rPr lang="en-US" sz="2000" dirty="0">
                <a:latin typeface="Times" panose="02020603050405020304" pitchFamily="18" charset="0"/>
                <a:cs typeface="Times" panose="02020603050405020304" pitchFamily="18" charset="0"/>
              </a:rPr>
              <a:t>Ensemble models performed significantly better:</a:t>
            </a:r>
          </a:p>
          <a:p>
            <a:pPr marL="742950" lvl="1" indent="-285750"/>
            <a:r>
              <a:rPr lang="en-US" sz="1800" b="1" dirty="0">
                <a:latin typeface="Times" panose="02020603050405020304" pitchFamily="18" charset="0"/>
                <a:cs typeface="Times" panose="02020603050405020304" pitchFamily="18" charset="0"/>
              </a:rPr>
              <a:t>Random Forest R²: 0.903</a:t>
            </a:r>
            <a:endParaRPr lang="en-US" sz="1800" dirty="0">
              <a:latin typeface="Times" panose="02020603050405020304" pitchFamily="18" charset="0"/>
              <a:cs typeface="Times" panose="02020603050405020304" pitchFamily="18" charset="0"/>
            </a:endParaRPr>
          </a:p>
          <a:p>
            <a:pPr marL="742950" lvl="1" indent="-285750"/>
            <a:r>
              <a:rPr lang="en-US" sz="1800" b="1" dirty="0">
                <a:latin typeface="Times" panose="02020603050405020304" pitchFamily="18" charset="0"/>
                <a:cs typeface="Times" panose="02020603050405020304" pitchFamily="18" charset="0"/>
              </a:rPr>
              <a:t>Gradient Boosting R²: 0.907</a:t>
            </a:r>
            <a:endParaRPr lang="en-US" sz="1800" dirty="0">
              <a:latin typeface="Times" panose="02020603050405020304" pitchFamily="18" charset="0"/>
              <a:cs typeface="Times" panose="02020603050405020304" pitchFamily="18" charset="0"/>
            </a:endParaRPr>
          </a:p>
          <a:p>
            <a:r>
              <a:rPr lang="en-US" sz="2000" dirty="0">
                <a:latin typeface="Times" panose="02020603050405020304" pitchFamily="18" charset="0"/>
                <a:cs typeface="Times" panose="02020603050405020304" pitchFamily="18" charset="0"/>
              </a:rPr>
              <a:t>Cross-validation showed </a:t>
            </a:r>
            <a:r>
              <a:rPr lang="en-US" sz="2000" b="1" dirty="0">
                <a:latin typeface="Times" panose="02020603050405020304" pitchFamily="18" charset="0"/>
                <a:cs typeface="Times" panose="02020603050405020304" pitchFamily="18" charset="0"/>
              </a:rPr>
              <a:t>low variance</a:t>
            </a:r>
            <a:r>
              <a:rPr lang="en-US" sz="2000" dirty="0">
                <a:latin typeface="Times" panose="02020603050405020304" pitchFamily="18" charset="0"/>
                <a:cs typeface="Times" panose="02020603050405020304" pitchFamily="18" charset="0"/>
              </a:rPr>
              <a:t>, indicating good generalization.</a:t>
            </a:r>
          </a:p>
          <a:p>
            <a:pPr>
              <a:buNone/>
            </a:pPr>
            <a:r>
              <a:rPr lang="en-US" sz="2000" b="1" dirty="0">
                <a:latin typeface="Times" panose="02020603050405020304" pitchFamily="18" charset="0"/>
                <a:cs typeface="Times" panose="02020603050405020304" pitchFamily="18" charset="0"/>
              </a:rPr>
              <a:t>3. Final Tuned Model Results</a:t>
            </a:r>
          </a:p>
          <a:p>
            <a:r>
              <a:rPr lang="en-US" sz="2000" dirty="0">
                <a:latin typeface="Times" panose="02020603050405020304" pitchFamily="18" charset="0"/>
                <a:cs typeface="Times" panose="02020603050405020304" pitchFamily="18" charset="0"/>
              </a:rPr>
              <a:t>After hyperparameter optimization, the tuned Random Forest model achieved:</a:t>
            </a:r>
          </a:p>
          <a:p>
            <a:pPr marL="742950" lvl="1" indent="-285750"/>
            <a:r>
              <a:rPr lang="en-US" sz="1800" b="1" dirty="0">
                <a:latin typeface="Times" panose="02020603050405020304" pitchFamily="18" charset="0"/>
                <a:cs typeface="Times" panose="02020603050405020304" pitchFamily="18" charset="0"/>
              </a:rPr>
              <a:t>MAE:</a:t>
            </a:r>
            <a:r>
              <a:rPr lang="en-US" sz="1800" dirty="0">
                <a:latin typeface="Times" panose="02020603050405020304" pitchFamily="18" charset="0"/>
                <a:cs typeface="Times" panose="02020603050405020304" pitchFamily="18" charset="0"/>
              </a:rPr>
              <a:t> 0.0913, </a:t>
            </a:r>
            <a:r>
              <a:rPr lang="en-US" sz="1800" b="1" dirty="0">
                <a:latin typeface="Times" panose="02020603050405020304" pitchFamily="18" charset="0"/>
                <a:cs typeface="Times" panose="02020603050405020304" pitchFamily="18" charset="0"/>
              </a:rPr>
              <a:t>MSE:</a:t>
            </a:r>
            <a:r>
              <a:rPr lang="en-US" sz="1800" dirty="0">
                <a:latin typeface="Times" panose="02020603050405020304" pitchFamily="18" charset="0"/>
                <a:cs typeface="Times" panose="02020603050405020304" pitchFamily="18" charset="0"/>
              </a:rPr>
              <a:t> 0.0219, </a:t>
            </a:r>
            <a:r>
              <a:rPr lang="en-US" sz="1800" b="1" dirty="0">
                <a:latin typeface="Times" panose="02020603050405020304" pitchFamily="18" charset="0"/>
                <a:cs typeface="Times" panose="02020603050405020304" pitchFamily="18" charset="0"/>
              </a:rPr>
              <a:t>RMSE:</a:t>
            </a:r>
            <a:r>
              <a:rPr lang="en-US" sz="1800" dirty="0">
                <a:latin typeface="Times" panose="02020603050405020304" pitchFamily="18" charset="0"/>
                <a:cs typeface="Times" panose="02020603050405020304" pitchFamily="18" charset="0"/>
              </a:rPr>
              <a:t> 0.1480, </a:t>
            </a:r>
            <a:r>
              <a:rPr lang="en-US" sz="1800" b="1" dirty="0">
                <a:latin typeface="Times" panose="02020603050405020304" pitchFamily="18" charset="0"/>
                <a:cs typeface="Times" panose="02020603050405020304" pitchFamily="18" charset="0"/>
              </a:rPr>
              <a:t>R² Score:</a:t>
            </a:r>
            <a:r>
              <a:rPr lang="en-US" sz="1800" dirty="0">
                <a:latin typeface="Times" panose="02020603050405020304" pitchFamily="18" charset="0"/>
                <a:cs typeface="Times" panose="02020603050405020304" pitchFamily="18" charset="0"/>
              </a:rPr>
              <a:t> 0.8983</a:t>
            </a:r>
          </a:p>
          <a:p>
            <a:r>
              <a:rPr lang="en-US" sz="2000" dirty="0">
                <a:latin typeface="Times" panose="02020603050405020304" pitchFamily="18" charset="0"/>
                <a:cs typeface="Times" panose="02020603050405020304" pitchFamily="18" charset="0"/>
              </a:rPr>
              <a:t>Metrics confirm </a:t>
            </a:r>
            <a:r>
              <a:rPr lang="en-US" sz="2000" b="1" dirty="0">
                <a:latin typeface="Times" panose="02020603050405020304" pitchFamily="18" charset="0"/>
                <a:cs typeface="Times" panose="02020603050405020304" pitchFamily="18" charset="0"/>
              </a:rPr>
              <a:t>high predictive accuracy</a:t>
            </a:r>
            <a:r>
              <a:rPr lang="en-US" sz="2000" dirty="0">
                <a:latin typeface="Times" panose="02020603050405020304" pitchFamily="18" charset="0"/>
                <a:cs typeface="Times" panose="02020603050405020304" pitchFamily="18" charset="0"/>
              </a:rPr>
              <a:t>, </a:t>
            </a:r>
            <a:r>
              <a:rPr lang="en-US" sz="2000" b="1" dirty="0">
                <a:latin typeface="Times" panose="02020603050405020304" pitchFamily="18" charset="0"/>
                <a:cs typeface="Times" panose="02020603050405020304" pitchFamily="18" charset="0"/>
              </a:rPr>
              <a:t>low error</a:t>
            </a:r>
            <a:r>
              <a:rPr lang="en-US" sz="2000" dirty="0">
                <a:latin typeface="Times" panose="02020603050405020304" pitchFamily="18" charset="0"/>
                <a:cs typeface="Times" panose="02020603050405020304" pitchFamily="18" charset="0"/>
              </a:rPr>
              <a:t>, and strong robustness across scales.</a:t>
            </a:r>
          </a:p>
        </p:txBody>
      </p:sp>
    </p:spTree>
    <p:extLst>
      <p:ext uri="{BB962C8B-B14F-4D97-AF65-F5344CB8AC3E}">
        <p14:creationId xmlns:p14="http://schemas.microsoft.com/office/powerpoint/2010/main" val="41735879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45D0B-764B-126A-6C7D-163BD9D2C07A}"/>
              </a:ext>
            </a:extLst>
          </p:cNvPr>
          <p:cNvSpPr>
            <a:spLocks noGrp="1"/>
          </p:cNvSpPr>
          <p:nvPr>
            <p:ph type="title"/>
          </p:nvPr>
        </p:nvSpPr>
        <p:spPr>
          <a:xfrm>
            <a:off x="393700" y="352425"/>
            <a:ext cx="10515600" cy="1325563"/>
          </a:xfrm>
        </p:spPr>
        <p:txBody>
          <a:bodyPr/>
          <a:lstStyle/>
          <a:p>
            <a:r>
              <a:rPr lang="en-US" b="1" dirty="0">
                <a:latin typeface="Times" panose="02020603050405020304" pitchFamily="18" charset="0"/>
                <a:cs typeface="Times" panose="02020603050405020304" pitchFamily="18" charset="0"/>
              </a:rPr>
              <a:t>Conclusion</a:t>
            </a:r>
            <a:br>
              <a:rPr lang="en-US" b="1" dirty="0">
                <a:latin typeface="Times" panose="02020603050405020304" pitchFamily="18" charset="0"/>
                <a:cs typeface="Times" panose="02020603050405020304" pitchFamily="18" charset="0"/>
              </a:rPr>
            </a:br>
            <a:endParaRPr lang="en-IN" dirty="0">
              <a:latin typeface="Times" panose="02020603050405020304" pitchFamily="18" charset="0"/>
              <a:cs typeface="Times" panose="02020603050405020304" pitchFamily="18" charset="0"/>
            </a:endParaRPr>
          </a:p>
        </p:txBody>
      </p:sp>
      <p:sp>
        <p:nvSpPr>
          <p:cNvPr id="3" name="Content Placeholder 2">
            <a:extLst>
              <a:ext uri="{FF2B5EF4-FFF2-40B4-BE49-F238E27FC236}">
                <a16:creationId xmlns:a16="http://schemas.microsoft.com/office/drawing/2014/main" id="{23B843A7-75F2-42D2-5692-FDDE210F6B91}"/>
              </a:ext>
            </a:extLst>
          </p:cNvPr>
          <p:cNvSpPr>
            <a:spLocks noGrp="1"/>
          </p:cNvSpPr>
          <p:nvPr>
            <p:ph idx="1"/>
          </p:nvPr>
        </p:nvSpPr>
        <p:spPr>
          <a:xfrm>
            <a:off x="342900" y="1449387"/>
            <a:ext cx="11506200" cy="4827587"/>
          </a:xfrm>
        </p:spPr>
        <p:txBody>
          <a:bodyPr>
            <a:normAutofit/>
          </a:bodyPr>
          <a:lstStyle/>
          <a:p>
            <a:r>
              <a:rPr lang="en-US" sz="2400" dirty="0">
                <a:latin typeface="Times" panose="02020603050405020304" pitchFamily="18" charset="0"/>
                <a:cs typeface="Times" panose="02020603050405020304" pitchFamily="18" charset="0"/>
              </a:rPr>
              <a:t>The project successfully built a </a:t>
            </a:r>
            <a:r>
              <a:rPr lang="en-US" sz="2400" b="1" dirty="0">
                <a:latin typeface="Times" panose="02020603050405020304" pitchFamily="18" charset="0"/>
                <a:cs typeface="Times" panose="02020603050405020304" pitchFamily="18" charset="0"/>
              </a:rPr>
              <a:t>reliable and accurate predictive model</a:t>
            </a:r>
            <a:r>
              <a:rPr lang="en-US" sz="2400" dirty="0">
                <a:latin typeface="Times" panose="02020603050405020304" pitchFamily="18" charset="0"/>
                <a:cs typeface="Times" panose="02020603050405020304" pitchFamily="18" charset="0"/>
              </a:rPr>
              <a:t> for housing price estimation.</a:t>
            </a:r>
          </a:p>
          <a:p>
            <a:r>
              <a:rPr lang="en-US" sz="2400" dirty="0">
                <a:latin typeface="Times" panose="02020603050405020304" pitchFamily="18" charset="0"/>
                <a:cs typeface="Times" panose="02020603050405020304" pitchFamily="18" charset="0"/>
              </a:rPr>
              <a:t>Systematic steps including </a:t>
            </a:r>
            <a:r>
              <a:rPr lang="en-US" sz="2400" b="1" dirty="0">
                <a:latin typeface="Times" panose="02020603050405020304" pitchFamily="18" charset="0"/>
                <a:cs typeface="Times" panose="02020603050405020304" pitchFamily="18" charset="0"/>
              </a:rPr>
              <a:t>EDA, encoding, feature engineering, scaling, training, evaluation, and hyperparameter tuning</a:t>
            </a:r>
            <a:r>
              <a:rPr lang="en-US" sz="2400" dirty="0">
                <a:latin typeface="Times" panose="02020603050405020304" pitchFamily="18" charset="0"/>
                <a:cs typeface="Times" panose="02020603050405020304" pitchFamily="18" charset="0"/>
              </a:rPr>
              <a:t> led to a strong final model.</a:t>
            </a:r>
          </a:p>
          <a:p>
            <a:r>
              <a:rPr lang="en-US" sz="2400" dirty="0">
                <a:latin typeface="Times" panose="02020603050405020304" pitchFamily="18" charset="0"/>
                <a:cs typeface="Times" panose="02020603050405020304" pitchFamily="18" charset="0"/>
              </a:rPr>
              <a:t>The optimized Random Forest model captures complex, non-linear patterns in real estate data and offers </a:t>
            </a:r>
            <a:r>
              <a:rPr lang="en-US" sz="2400" b="1" dirty="0">
                <a:latin typeface="Times" panose="02020603050405020304" pitchFamily="18" charset="0"/>
                <a:cs typeface="Times" panose="02020603050405020304" pitchFamily="18" charset="0"/>
              </a:rPr>
              <a:t>consistent, high-quality predictions</a:t>
            </a:r>
            <a:r>
              <a:rPr lang="en-US" sz="2400" dirty="0">
                <a:latin typeface="Times" panose="02020603050405020304" pitchFamily="18" charset="0"/>
                <a:cs typeface="Times" panose="02020603050405020304" pitchFamily="18" charset="0"/>
              </a:rPr>
              <a:t>.</a:t>
            </a:r>
          </a:p>
          <a:p>
            <a:endParaRPr lang="en-US" sz="2400" dirty="0">
              <a:latin typeface="Times" panose="02020603050405020304" pitchFamily="18" charset="0"/>
              <a:cs typeface="Times" panose="02020603050405020304" pitchFamily="18" charset="0"/>
            </a:endParaRPr>
          </a:p>
          <a:p>
            <a:r>
              <a:rPr lang="en-US" sz="2400" dirty="0">
                <a:latin typeface="Times" panose="02020603050405020304" pitchFamily="18" charset="0"/>
                <a:cs typeface="Times" panose="02020603050405020304" pitchFamily="18" charset="0"/>
              </a:rPr>
              <a:t>This model provides a strong foundation for:</a:t>
            </a:r>
          </a:p>
          <a:p>
            <a:pPr marL="742950" lvl="1" indent="-285750"/>
            <a:r>
              <a:rPr lang="en-US" sz="2000" dirty="0">
                <a:latin typeface="Times" panose="02020603050405020304" pitchFamily="18" charset="0"/>
                <a:cs typeface="Times" panose="02020603050405020304" pitchFamily="18" charset="0"/>
              </a:rPr>
              <a:t>Deployment in real estate applications</a:t>
            </a:r>
          </a:p>
          <a:p>
            <a:pPr marL="742950" lvl="1" indent="-285750"/>
            <a:r>
              <a:rPr lang="en-US" sz="2000" dirty="0">
                <a:latin typeface="Times" panose="02020603050405020304" pitchFamily="18" charset="0"/>
                <a:cs typeface="Times" panose="02020603050405020304" pitchFamily="18" charset="0"/>
              </a:rPr>
              <a:t>Automated price estimation systems</a:t>
            </a:r>
          </a:p>
          <a:p>
            <a:pPr marL="742950" lvl="1" indent="-285750"/>
            <a:r>
              <a:rPr lang="en-US" sz="2000" dirty="0">
                <a:latin typeface="Times" panose="02020603050405020304" pitchFamily="18" charset="0"/>
                <a:cs typeface="Times" panose="02020603050405020304" pitchFamily="18" charset="0"/>
              </a:rPr>
              <a:t>Decision support for real estate agents, buyers, and investors</a:t>
            </a:r>
          </a:p>
          <a:p>
            <a:endParaRPr lang="en-IN" dirty="0"/>
          </a:p>
        </p:txBody>
      </p:sp>
    </p:spTree>
    <p:extLst>
      <p:ext uri="{BB962C8B-B14F-4D97-AF65-F5344CB8AC3E}">
        <p14:creationId xmlns:p14="http://schemas.microsoft.com/office/powerpoint/2010/main" val="37761270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TotalTime>
  <Words>1514</Words>
  <Application>Microsoft Office PowerPoint</Application>
  <PresentationFormat>Widescreen</PresentationFormat>
  <Paragraphs>189</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Times</vt:lpstr>
      <vt:lpstr>Times New Roman</vt:lpstr>
      <vt:lpstr>Office Theme</vt:lpstr>
      <vt:lpstr>Predicting House Price  using  ML Models </vt:lpstr>
      <vt:lpstr>Abstract </vt:lpstr>
      <vt:lpstr>Need for Project </vt:lpstr>
      <vt:lpstr>Proposed System </vt:lpstr>
      <vt:lpstr>Snapshot of Data </vt:lpstr>
      <vt:lpstr>Dataset Description </vt:lpstr>
      <vt:lpstr>Pipeline </vt:lpstr>
      <vt:lpstr>Data Cleaning and Pre-processing </vt:lpstr>
      <vt:lpstr>Data Cleaning and Pre-processing </vt:lpstr>
      <vt:lpstr>PowerPoint Presentation</vt:lpstr>
      <vt:lpstr>Data Visualization and EDA (Exploratory data Analysis)</vt:lpstr>
      <vt:lpstr>PowerPoint Presentation</vt:lpstr>
      <vt:lpstr>Data Visualization</vt:lpstr>
      <vt:lpstr>PowerPoint Presentation</vt:lpstr>
      <vt:lpstr>PowerPoint Presentation</vt:lpstr>
      <vt:lpstr>PowerPoint Presentation</vt:lpstr>
      <vt:lpstr>PowerPoint Presentation</vt:lpstr>
      <vt:lpstr>PowerPoint Presentation</vt:lpstr>
      <vt:lpstr>Dummy or indicator features for categorical variables </vt:lpstr>
      <vt:lpstr>Feature Engineering </vt:lpstr>
      <vt:lpstr>Machine Learning Algorithm </vt:lpstr>
      <vt:lpstr>PowerPoint Presentation</vt:lpstr>
      <vt:lpstr>PowerPoint Presentation</vt:lpstr>
      <vt:lpstr>PowerPoint Presentation</vt:lpstr>
      <vt:lpstr>Key Findings from the Project </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suniksha gupta</dc:creator>
  <cp:lastModifiedBy>suniksha gupta</cp:lastModifiedBy>
  <cp:revision>2</cp:revision>
  <dcterms:created xsi:type="dcterms:W3CDTF">2025-11-25T23:36:30Z</dcterms:created>
  <dcterms:modified xsi:type="dcterms:W3CDTF">2025-11-26T00:23:48Z</dcterms:modified>
</cp:coreProperties>
</file>